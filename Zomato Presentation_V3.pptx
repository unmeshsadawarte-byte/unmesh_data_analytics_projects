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sldIdLst>
    <p:sldId id="256" r:id="rId2"/>
    <p:sldId id="257" r:id="rId3"/>
    <p:sldId id="271" r:id="rId4"/>
    <p:sldId id="258" r:id="rId5"/>
    <p:sldId id="259" r:id="rId6"/>
    <p:sldId id="272" r:id="rId7"/>
    <p:sldId id="273" r:id="rId8"/>
    <p:sldId id="274" r:id="rId9"/>
    <p:sldId id="275" r:id="rId10"/>
    <p:sldId id="276" r:id="rId11"/>
    <p:sldId id="277" r:id="rId12"/>
    <p:sldId id="281" r:id="rId13"/>
    <p:sldId id="283" r:id="rId14"/>
    <p:sldId id="282" r:id="rId15"/>
    <p:sldId id="268" r:id="rId16"/>
    <p:sldId id="266" r:id="rId17"/>
    <p:sldId id="278" r:id="rId18"/>
    <p:sldId id="279" r:id="rId19"/>
    <p:sldId id="280" r:id="rId20"/>
    <p:sldId id="27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29C166-143D-481C-856E-0D1BF77C02B8}">
          <p14:sldIdLst>
            <p14:sldId id="256"/>
            <p14:sldId id="257"/>
            <p14:sldId id="271"/>
            <p14:sldId id="258"/>
            <p14:sldId id="259"/>
            <p14:sldId id="272"/>
            <p14:sldId id="273"/>
            <p14:sldId id="274"/>
            <p14:sldId id="275"/>
            <p14:sldId id="276"/>
            <p14:sldId id="277"/>
            <p14:sldId id="281"/>
            <p14:sldId id="283"/>
            <p14:sldId id="282"/>
            <p14:sldId id="268"/>
            <p14:sldId id="266"/>
            <p14:sldId id="278"/>
            <p14:sldId id="279"/>
            <p14:sldId id="280"/>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173C66-CDCC-4AC8-AA48-3AF388FFE9C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0287228-3405-4E20-81C9-840EF4A7F1EC}">
      <dgm:prSet/>
      <dgm:spPr/>
      <dgm:t>
        <a:bodyPr/>
        <a:lstStyle/>
        <a:p>
          <a:pPr>
            <a:lnSpc>
              <a:spcPct val="100000"/>
            </a:lnSpc>
          </a:pPr>
          <a:r>
            <a:rPr lang="en-US" dirty="0"/>
            <a:t>Had Data of 9551 Restaurants across 15 countries and 140 cities with 9542 sets of cuisines </a:t>
          </a:r>
        </a:p>
      </dgm:t>
    </dgm:pt>
    <dgm:pt modelId="{EE5A619C-BD86-45A7-8B1E-D44E9FA8A354}" type="parTrans" cxnId="{0C7C6FA7-4A6F-4B3B-A7F6-FD0D39723A2E}">
      <dgm:prSet/>
      <dgm:spPr/>
      <dgm:t>
        <a:bodyPr/>
        <a:lstStyle/>
        <a:p>
          <a:endParaRPr lang="en-US"/>
        </a:p>
      </dgm:t>
    </dgm:pt>
    <dgm:pt modelId="{ABE4AE85-3626-4EB9-963C-9333C59D8345}" type="sibTrans" cxnId="{0C7C6FA7-4A6F-4B3B-A7F6-FD0D39723A2E}">
      <dgm:prSet/>
      <dgm:spPr/>
      <dgm:t>
        <a:bodyPr/>
        <a:lstStyle/>
        <a:p>
          <a:endParaRPr lang="en-US"/>
        </a:p>
      </dgm:t>
    </dgm:pt>
    <dgm:pt modelId="{BF5B3096-D4D7-4B29-AC18-76C2B2C9401C}">
      <dgm:prSet/>
      <dgm:spPr/>
      <dgm:t>
        <a:bodyPr/>
        <a:lstStyle/>
        <a:p>
          <a:pPr>
            <a:lnSpc>
              <a:spcPct val="100000"/>
            </a:lnSpc>
          </a:pPr>
          <a:r>
            <a:rPr lang="en-US"/>
            <a:t>Majority of those restaurants were Indian.</a:t>
          </a:r>
        </a:p>
      </dgm:t>
    </dgm:pt>
    <dgm:pt modelId="{07E6EB52-5B38-40FF-84D0-4ED8A7FB5504}" type="parTrans" cxnId="{BC3C3991-7EC5-4837-B681-1C83FB5FD5C0}">
      <dgm:prSet/>
      <dgm:spPr/>
      <dgm:t>
        <a:bodyPr/>
        <a:lstStyle/>
        <a:p>
          <a:endParaRPr lang="en-US"/>
        </a:p>
      </dgm:t>
    </dgm:pt>
    <dgm:pt modelId="{94A04EA2-A21B-4A64-B25B-69CD39F0AEE8}" type="sibTrans" cxnId="{BC3C3991-7EC5-4837-B681-1C83FB5FD5C0}">
      <dgm:prSet/>
      <dgm:spPr/>
      <dgm:t>
        <a:bodyPr/>
        <a:lstStyle/>
        <a:p>
          <a:endParaRPr lang="en-US"/>
        </a:p>
      </dgm:t>
    </dgm:pt>
    <dgm:pt modelId="{DFEAF6D6-14EE-43BA-A20C-BC3CFD64AAE7}" type="pres">
      <dgm:prSet presAssocID="{C7173C66-CDCC-4AC8-AA48-3AF388FFE9C8}" presName="root" presStyleCnt="0">
        <dgm:presLayoutVars>
          <dgm:dir/>
          <dgm:resizeHandles val="exact"/>
        </dgm:presLayoutVars>
      </dgm:prSet>
      <dgm:spPr/>
    </dgm:pt>
    <dgm:pt modelId="{AF67EFC1-6941-4334-8D31-923CE0FBC71D}" type="pres">
      <dgm:prSet presAssocID="{70287228-3405-4E20-81C9-840EF4A7F1EC}" presName="compNode" presStyleCnt="0"/>
      <dgm:spPr/>
    </dgm:pt>
    <dgm:pt modelId="{EEDB36B6-1FFD-40E2-A605-B51868321907}" type="pres">
      <dgm:prSet presAssocID="{70287228-3405-4E20-81C9-840EF4A7F1E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rk and knife"/>
        </a:ext>
      </dgm:extLst>
    </dgm:pt>
    <dgm:pt modelId="{9ADEB78D-3765-4E79-85C7-DFD63786E9E1}" type="pres">
      <dgm:prSet presAssocID="{70287228-3405-4E20-81C9-840EF4A7F1EC}" presName="spaceRect" presStyleCnt="0"/>
      <dgm:spPr/>
    </dgm:pt>
    <dgm:pt modelId="{5F399BDE-BE16-4603-AA88-9F2F681527A4}" type="pres">
      <dgm:prSet presAssocID="{70287228-3405-4E20-81C9-840EF4A7F1EC}" presName="textRect" presStyleLbl="revTx" presStyleIdx="0" presStyleCnt="2" custScaleX="120143">
        <dgm:presLayoutVars>
          <dgm:chMax val="1"/>
          <dgm:chPref val="1"/>
        </dgm:presLayoutVars>
      </dgm:prSet>
      <dgm:spPr/>
    </dgm:pt>
    <dgm:pt modelId="{4B4AD061-4142-444A-BBC7-7C77DE2B40AB}" type="pres">
      <dgm:prSet presAssocID="{ABE4AE85-3626-4EB9-963C-9333C59D8345}" presName="sibTrans" presStyleCnt="0"/>
      <dgm:spPr/>
    </dgm:pt>
    <dgm:pt modelId="{B392E5E4-946B-4009-9F56-57A1DAA80418}" type="pres">
      <dgm:prSet presAssocID="{BF5B3096-D4D7-4B29-AC18-76C2B2C9401C}" presName="compNode" presStyleCnt="0"/>
      <dgm:spPr/>
    </dgm:pt>
    <dgm:pt modelId="{005D240D-CCC5-4DB4-A62D-18FEB5D6C1CE}" type="pres">
      <dgm:prSet presAssocID="{BF5B3096-D4D7-4B29-AC18-76C2B2C9401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rger and Drink"/>
        </a:ext>
      </dgm:extLst>
    </dgm:pt>
    <dgm:pt modelId="{4D5ED200-43A0-44B7-B05E-AF5F34FCA11C}" type="pres">
      <dgm:prSet presAssocID="{BF5B3096-D4D7-4B29-AC18-76C2B2C9401C}" presName="spaceRect" presStyleCnt="0"/>
      <dgm:spPr/>
    </dgm:pt>
    <dgm:pt modelId="{D2945533-1330-42FC-B27D-85A7B0D8C554}" type="pres">
      <dgm:prSet presAssocID="{BF5B3096-D4D7-4B29-AC18-76C2B2C9401C}" presName="textRect" presStyleLbl="revTx" presStyleIdx="1" presStyleCnt="2">
        <dgm:presLayoutVars>
          <dgm:chMax val="1"/>
          <dgm:chPref val="1"/>
        </dgm:presLayoutVars>
      </dgm:prSet>
      <dgm:spPr/>
    </dgm:pt>
  </dgm:ptLst>
  <dgm:cxnLst>
    <dgm:cxn modelId="{B83BAD56-80DC-4822-835F-0BFCB26FB24B}" type="presOf" srcId="{BF5B3096-D4D7-4B29-AC18-76C2B2C9401C}" destId="{D2945533-1330-42FC-B27D-85A7B0D8C554}" srcOrd="0" destOrd="0" presId="urn:microsoft.com/office/officeart/2018/2/layout/IconLabelList"/>
    <dgm:cxn modelId="{BC3C3991-7EC5-4837-B681-1C83FB5FD5C0}" srcId="{C7173C66-CDCC-4AC8-AA48-3AF388FFE9C8}" destId="{BF5B3096-D4D7-4B29-AC18-76C2B2C9401C}" srcOrd="1" destOrd="0" parTransId="{07E6EB52-5B38-40FF-84D0-4ED8A7FB5504}" sibTransId="{94A04EA2-A21B-4A64-B25B-69CD39F0AEE8}"/>
    <dgm:cxn modelId="{0C7C6FA7-4A6F-4B3B-A7F6-FD0D39723A2E}" srcId="{C7173C66-CDCC-4AC8-AA48-3AF388FFE9C8}" destId="{70287228-3405-4E20-81C9-840EF4A7F1EC}" srcOrd="0" destOrd="0" parTransId="{EE5A619C-BD86-45A7-8B1E-D44E9FA8A354}" sibTransId="{ABE4AE85-3626-4EB9-963C-9333C59D8345}"/>
    <dgm:cxn modelId="{4A26A2AD-20DC-4035-A176-3683A7E3BD2A}" type="presOf" srcId="{70287228-3405-4E20-81C9-840EF4A7F1EC}" destId="{5F399BDE-BE16-4603-AA88-9F2F681527A4}" srcOrd="0" destOrd="0" presId="urn:microsoft.com/office/officeart/2018/2/layout/IconLabelList"/>
    <dgm:cxn modelId="{112295E9-1AF8-44EA-B1B1-872EA629A6EA}" type="presOf" srcId="{C7173C66-CDCC-4AC8-AA48-3AF388FFE9C8}" destId="{DFEAF6D6-14EE-43BA-A20C-BC3CFD64AAE7}" srcOrd="0" destOrd="0" presId="urn:microsoft.com/office/officeart/2018/2/layout/IconLabelList"/>
    <dgm:cxn modelId="{9629EF15-E87E-4873-9C57-5CC90F6F5D00}" type="presParOf" srcId="{DFEAF6D6-14EE-43BA-A20C-BC3CFD64AAE7}" destId="{AF67EFC1-6941-4334-8D31-923CE0FBC71D}" srcOrd="0" destOrd="0" presId="urn:microsoft.com/office/officeart/2018/2/layout/IconLabelList"/>
    <dgm:cxn modelId="{0ADB9359-1225-4C60-AF95-7A3A660FCE29}" type="presParOf" srcId="{AF67EFC1-6941-4334-8D31-923CE0FBC71D}" destId="{EEDB36B6-1FFD-40E2-A605-B51868321907}" srcOrd="0" destOrd="0" presId="urn:microsoft.com/office/officeart/2018/2/layout/IconLabelList"/>
    <dgm:cxn modelId="{BE2AC743-DBC7-439C-A6FF-C4F162B57438}" type="presParOf" srcId="{AF67EFC1-6941-4334-8D31-923CE0FBC71D}" destId="{9ADEB78D-3765-4E79-85C7-DFD63786E9E1}" srcOrd="1" destOrd="0" presId="urn:microsoft.com/office/officeart/2018/2/layout/IconLabelList"/>
    <dgm:cxn modelId="{6D65441E-0C72-4FE1-8D27-35676814D684}" type="presParOf" srcId="{AF67EFC1-6941-4334-8D31-923CE0FBC71D}" destId="{5F399BDE-BE16-4603-AA88-9F2F681527A4}" srcOrd="2" destOrd="0" presId="urn:microsoft.com/office/officeart/2018/2/layout/IconLabelList"/>
    <dgm:cxn modelId="{478A0895-1F78-4BC1-B6FD-C324C2CAECAF}" type="presParOf" srcId="{DFEAF6D6-14EE-43BA-A20C-BC3CFD64AAE7}" destId="{4B4AD061-4142-444A-BBC7-7C77DE2B40AB}" srcOrd="1" destOrd="0" presId="urn:microsoft.com/office/officeart/2018/2/layout/IconLabelList"/>
    <dgm:cxn modelId="{CB1A7BC3-5228-4384-BF3D-EB3E7EF2C57E}" type="presParOf" srcId="{DFEAF6D6-14EE-43BA-A20C-BC3CFD64AAE7}" destId="{B392E5E4-946B-4009-9F56-57A1DAA80418}" srcOrd="2" destOrd="0" presId="urn:microsoft.com/office/officeart/2018/2/layout/IconLabelList"/>
    <dgm:cxn modelId="{85CF89C5-CB47-4070-BFCD-E70FD7E47A42}" type="presParOf" srcId="{B392E5E4-946B-4009-9F56-57A1DAA80418}" destId="{005D240D-CCC5-4DB4-A62D-18FEB5D6C1CE}" srcOrd="0" destOrd="0" presId="urn:microsoft.com/office/officeart/2018/2/layout/IconLabelList"/>
    <dgm:cxn modelId="{F5F7375A-174D-4EBB-B3BB-344098BF4126}" type="presParOf" srcId="{B392E5E4-946B-4009-9F56-57A1DAA80418}" destId="{4D5ED200-43A0-44B7-B05E-AF5F34FCA11C}" srcOrd="1" destOrd="0" presId="urn:microsoft.com/office/officeart/2018/2/layout/IconLabelList"/>
    <dgm:cxn modelId="{72F12862-946E-4961-8C93-CF4CBC31DCAF}" type="presParOf" srcId="{B392E5E4-946B-4009-9F56-57A1DAA80418}" destId="{D2945533-1330-42FC-B27D-85A7B0D8C55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B36B6-1FFD-40E2-A605-B51868321907}">
      <dsp:nvSpPr>
        <dsp:cNvPr id="0" name=""/>
        <dsp:cNvSpPr/>
      </dsp:nvSpPr>
      <dsp:spPr>
        <a:xfrm>
          <a:off x="1953431" y="85611"/>
          <a:ext cx="686601" cy="686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399BDE-BE16-4603-AA88-9F2F681527A4}">
      <dsp:nvSpPr>
        <dsp:cNvPr id="0" name=""/>
        <dsp:cNvSpPr/>
      </dsp:nvSpPr>
      <dsp:spPr>
        <a:xfrm>
          <a:off x="1380172" y="1001114"/>
          <a:ext cx="1833119" cy="61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Had Data of 9551 Restaurants across 15 countries and 140 cities with 9542 sets of cuisines </a:t>
          </a:r>
        </a:p>
      </dsp:txBody>
      <dsp:txXfrm>
        <a:off x="1380172" y="1001114"/>
        <a:ext cx="1833119" cy="610312"/>
      </dsp:txXfrm>
    </dsp:sp>
    <dsp:sp modelId="{005D240D-CCC5-4DB4-A62D-18FEB5D6C1CE}">
      <dsp:nvSpPr>
        <dsp:cNvPr id="0" name=""/>
        <dsp:cNvSpPr/>
      </dsp:nvSpPr>
      <dsp:spPr>
        <a:xfrm>
          <a:off x="3899893" y="85611"/>
          <a:ext cx="686601" cy="686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945533-1330-42FC-B27D-85A7B0D8C554}">
      <dsp:nvSpPr>
        <dsp:cNvPr id="0" name=""/>
        <dsp:cNvSpPr/>
      </dsp:nvSpPr>
      <dsp:spPr>
        <a:xfrm>
          <a:off x="3480303" y="1001114"/>
          <a:ext cx="1525781" cy="61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Majority of those restaurants were Indian.</a:t>
          </a:r>
        </a:p>
      </dsp:txBody>
      <dsp:txXfrm>
        <a:off x="3480303" y="1001114"/>
        <a:ext cx="1525781" cy="61031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BBA028-AA46-4A51-AB82-CEB9B5056A1B}" type="datetimeFigureOut">
              <a:rPr lang="en-IN" smtClean="0"/>
              <a:t>05-11-2025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8A89EF-2955-4011-BCD9-BD300E758E52}" type="slidenum">
              <a:rPr lang="en-IN" smtClean="0"/>
              <a:t>‹#›</a:t>
            </a:fld>
            <a:endParaRPr lang="en-IN"/>
          </a:p>
        </p:txBody>
      </p:sp>
    </p:spTree>
    <p:extLst>
      <p:ext uri="{BB962C8B-B14F-4D97-AF65-F5344CB8AC3E}">
        <p14:creationId xmlns:p14="http://schemas.microsoft.com/office/powerpoint/2010/main" val="182203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8A89EF-2955-4011-BCD9-BD300E758E52}" type="slidenum">
              <a:rPr lang="en-IN" smtClean="0"/>
              <a:t>2</a:t>
            </a:fld>
            <a:endParaRPr lang="en-IN"/>
          </a:p>
        </p:txBody>
      </p:sp>
    </p:spTree>
    <p:extLst>
      <p:ext uri="{BB962C8B-B14F-4D97-AF65-F5344CB8AC3E}">
        <p14:creationId xmlns:p14="http://schemas.microsoft.com/office/powerpoint/2010/main" val="912493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754B788B-955E-4CBF-885A-ECA1AA3F34EA}" type="datetimeFigureOut">
              <a:rPr lang="en-IN" smtClean="0"/>
              <a:t>05-11-2025</a:t>
            </a:fld>
            <a:endParaRPr lang="en-IN"/>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2287606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788B-955E-4CBF-885A-ECA1AA3F34EA}" type="datetimeFigureOut">
              <a:rPr lang="en-IN" smtClean="0"/>
              <a:t>05-11-2025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3449458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754B788B-955E-4CBF-885A-ECA1AA3F34EA}" type="datetimeFigureOut">
              <a:rPr lang="en-IN" smtClean="0"/>
              <a:t>05-11-2025</a:t>
            </a:fld>
            <a:endParaRPr lang="en-IN"/>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113202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754B788B-955E-4CBF-885A-ECA1AA3F34EA}" type="datetimeFigureOut">
              <a:rPr lang="en-IN" smtClean="0"/>
              <a:t>05-11-2025</a:t>
            </a:fld>
            <a:endParaRPr lang="en-IN"/>
          </a:p>
        </p:txBody>
      </p:sp>
      <p:sp>
        <p:nvSpPr>
          <p:cNvPr id="6" name="Footer Placeholder 5"/>
          <p:cNvSpPr>
            <a:spLocks noGrp="1"/>
          </p:cNvSpPr>
          <p:nvPr>
            <p:ph type="ftr" sz="quarter" idx="11"/>
          </p:nvPr>
        </p:nvSpPr>
        <p:spPr>
          <a:xfrm>
            <a:off x="804672" y="6227064"/>
            <a:ext cx="10588752" cy="320040"/>
          </a:xfrm>
        </p:spPr>
        <p:txBody>
          <a:bodyPr/>
          <a:lstStyle/>
          <a:p>
            <a:endParaRPr lang="en-IN"/>
          </a:p>
        </p:txBody>
      </p:sp>
      <p:sp>
        <p:nvSpPr>
          <p:cNvPr id="7" name="Slide Number Placeholder 6"/>
          <p:cNvSpPr>
            <a:spLocks noGrp="1"/>
          </p:cNvSpPr>
          <p:nvPr>
            <p:ph type="sldNum" sz="quarter" idx="12"/>
          </p:nvPr>
        </p:nvSpPr>
        <p:spPr>
          <a:xfrm>
            <a:off x="10469880" y="320040"/>
            <a:ext cx="914400" cy="320040"/>
          </a:xfrm>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3958057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754B788B-955E-4CBF-885A-ECA1AA3F34EA}" type="datetimeFigureOut">
              <a:rPr lang="en-IN" smtClean="0"/>
              <a:t>05-11-2025</a:t>
            </a:fld>
            <a:endParaRPr lang="en-IN"/>
          </a:p>
        </p:txBody>
      </p:sp>
      <p:sp>
        <p:nvSpPr>
          <p:cNvPr id="8" name="Footer Placeholder 7"/>
          <p:cNvSpPr>
            <a:spLocks noGrp="1"/>
          </p:cNvSpPr>
          <p:nvPr>
            <p:ph type="ftr" sz="quarter" idx="11"/>
          </p:nvPr>
        </p:nvSpPr>
        <p:spPr>
          <a:xfrm>
            <a:off x="804672" y="6227064"/>
            <a:ext cx="10588752" cy="320040"/>
          </a:xfrm>
        </p:spPr>
        <p:txBody>
          <a:bodyPr/>
          <a:lstStyle/>
          <a:p>
            <a:endParaRPr lang="en-IN"/>
          </a:p>
        </p:txBody>
      </p:sp>
      <p:sp>
        <p:nvSpPr>
          <p:cNvPr id="9" name="Slide Number Placeholder 8"/>
          <p:cNvSpPr>
            <a:spLocks noGrp="1"/>
          </p:cNvSpPr>
          <p:nvPr>
            <p:ph type="sldNum" sz="quarter" idx="12"/>
          </p:nvPr>
        </p:nvSpPr>
        <p:spPr>
          <a:xfrm>
            <a:off x="10469880" y="320040"/>
            <a:ext cx="914400" cy="320040"/>
          </a:xfrm>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154155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4B788B-955E-4CBF-885A-ECA1AA3F34EA}" type="datetimeFigureOut">
              <a:rPr lang="en-IN" smtClean="0"/>
              <a:t>05-11-2025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1049913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754B788B-955E-4CBF-885A-ECA1AA3F34EA}" type="datetimeFigureOut">
              <a:rPr lang="en-IN" smtClean="0"/>
              <a:t>05-11-2025</a:t>
            </a:fld>
            <a:endParaRPr lang="en-IN"/>
          </a:p>
        </p:txBody>
      </p:sp>
      <p:sp>
        <p:nvSpPr>
          <p:cNvPr id="3" name="Footer Placeholder 2"/>
          <p:cNvSpPr>
            <a:spLocks noGrp="1"/>
          </p:cNvSpPr>
          <p:nvPr>
            <p:ph type="ftr" sz="quarter" idx="11"/>
          </p:nvPr>
        </p:nvSpPr>
        <p:spPr>
          <a:xfrm>
            <a:off x="804672" y="6227064"/>
            <a:ext cx="10588752" cy="320040"/>
          </a:xfrm>
        </p:spPr>
        <p:txBody>
          <a:bodyPr/>
          <a:lstStyle/>
          <a:p>
            <a:endParaRPr lang="en-IN"/>
          </a:p>
        </p:txBody>
      </p:sp>
      <p:sp>
        <p:nvSpPr>
          <p:cNvPr id="4" name="Slide Number Placeholder 3"/>
          <p:cNvSpPr>
            <a:spLocks noGrp="1"/>
          </p:cNvSpPr>
          <p:nvPr>
            <p:ph type="sldNum" sz="quarter" idx="12"/>
          </p:nvPr>
        </p:nvSpPr>
        <p:spPr>
          <a:xfrm>
            <a:off x="10469880" y="320040"/>
            <a:ext cx="914400" cy="320040"/>
          </a:xfrm>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3477639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4B788B-955E-4CBF-885A-ECA1AA3F34EA}"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1127963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754B788B-955E-4CBF-885A-ECA1AA3F34EA}" type="datetimeFigureOut">
              <a:rPr lang="en-IN" smtClean="0"/>
              <a:t>05-11-2025</a:t>
            </a:fld>
            <a:endParaRPr lang="en-IN"/>
          </a:p>
        </p:txBody>
      </p:sp>
      <p:sp>
        <p:nvSpPr>
          <p:cNvPr id="6" name="Footer Placeholder 5"/>
          <p:cNvSpPr>
            <a:spLocks noGrp="1"/>
          </p:cNvSpPr>
          <p:nvPr>
            <p:ph type="ftr" sz="quarter" idx="11"/>
          </p:nvPr>
        </p:nvSpPr>
        <p:spPr>
          <a:xfrm>
            <a:off x="804672" y="6227064"/>
            <a:ext cx="5942203" cy="320040"/>
          </a:xfrm>
        </p:spPr>
        <p:txBody>
          <a:bodyPr/>
          <a:lstStyle/>
          <a:p>
            <a:endParaRPr lang="en-IN"/>
          </a:p>
        </p:txBody>
      </p:sp>
      <p:sp>
        <p:nvSpPr>
          <p:cNvPr id="7" name="Slide Number Placeholder 6"/>
          <p:cNvSpPr>
            <a:spLocks noGrp="1"/>
          </p:cNvSpPr>
          <p:nvPr>
            <p:ph type="sldNum" sz="quarter" idx="12"/>
          </p:nvPr>
        </p:nvSpPr>
        <p:spPr>
          <a:xfrm>
            <a:off x="5828377" y="320040"/>
            <a:ext cx="914400" cy="320040"/>
          </a:xfrm>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3444492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788B-955E-4CBF-885A-ECA1AA3F34EA}" type="datetimeFigureOut">
              <a:rPr lang="en-IN" smtClean="0"/>
              <a:t>05-11-2025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94606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754B788B-955E-4CBF-885A-ECA1AA3F34EA}" type="datetimeFigureOut">
              <a:rPr lang="en-IN" smtClean="0"/>
              <a:t>05-11-2025</a:t>
            </a:fld>
            <a:endParaRPr lang="en-IN"/>
          </a:p>
        </p:txBody>
      </p:sp>
      <p:sp>
        <p:nvSpPr>
          <p:cNvPr id="5" name="Footer Placeholder 4"/>
          <p:cNvSpPr>
            <a:spLocks noGrp="1"/>
          </p:cNvSpPr>
          <p:nvPr>
            <p:ph type="ftr" sz="quarter" idx="11"/>
          </p:nvPr>
        </p:nvSpPr>
        <p:spPr>
          <a:xfrm>
            <a:off x="804672" y="6227064"/>
            <a:ext cx="10588752" cy="320040"/>
          </a:xfrm>
        </p:spPr>
        <p:txBody>
          <a:body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fld id="{1BA4C2B3-4A85-4173-86DE-F127D1CDCCD8}" type="slidenum">
              <a:rPr lang="en-IN" smtClean="0"/>
              <a:t>‹#›</a:t>
            </a:fld>
            <a:endParaRPr lang="en-IN"/>
          </a:p>
        </p:txBody>
      </p:sp>
    </p:spTree>
    <p:extLst>
      <p:ext uri="{BB962C8B-B14F-4D97-AF65-F5344CB8AC3E}">
        <p14:creationId xmlns:p14="http://schemas.microsoft.com/office/powerpoint/2010/main" val="3910861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754B788B-955E-4CBF-885A-ECA1AA3F34EA}" type="datetimeFigureOut">
              <a:rPr lang="en-IN" smtClean="0"/>
              <a:t>05-11-2025</a:t>
            </a:fld>
            <a:endParaRPr lang="en-IN"/>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1BA4C2B3-4A85-4173-86DE-F127D1CDCCD8}" type="slidenum">
              <a:rPr lang="en-IN" smtClean="0"/>
              <a:t>‹#›</a:t>
            </a:fld>
            <a:endParaRPr lang="en-IN"/>
          </a:p>
        </p:txBody>
      </p:sp>
    </p:spTree>
    <p:extLst>
      <p:ext uri="{BB962C8B-B14F-4D97-AF65-F5344CB8AC3E}">
        <p14:creationId xmlns:p14="http://schemas.microsoft.com/office/powerpoint/2010/main" val="385975516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black object in a red square&#10;&#10;AI-generated content may be incorrect.">
            <a:extLst>
              <a:ext uri="{FF2B5EF4-FFF2-40B4-BE49-F238E27FC236}">
                <a16:creationId xmlns:a16="http://schemas.microsoft.com/office/drawing/2014/main" id="{80CEFB98-914B-BB3F-6336-1F82CC98F2D5}"/>
              </a:ext>
            </a:extLst>
          </p:cNvPr>
          <p:cNvPicPr>
            <a:picLocks noChangeAspect="1"/>
          </p:cNvPicPr>
          <p:nvPr/>
        </p:nvPicPr>
        <p:blipFill>
          <a:blip r:embed="rId2">
            <a:extLst>
              <a:ext uri="{28A0092B-C50C-407E-A947-70E740481C1C}">
                <a14:useLocalDpi xmlns:a14="http://schemas.microsoft.com/office/drawing/2010/main" val="0"/>
              </a:ext>
            </a:extLst>
          </a:blip>
          <a:srcRect r="1192" b="-4"/>
          <a:stretch>
            <a:fillRect/>
          </a:stretch>
        </p:blipFill>
        <p:spPr>
          <a:xfrm>
            <a:off x="6195375" y="557189"/>
            <a:ext cx="5674893" cy="5743618"/>
          </a:xfrm>
          <a:prstGeom prst="rect">
            <a:avLst/>
          </a:prstGeom>
        </p:spPr>
      </p:pic>
      <p:pic>
        <p:nvPicPr>
          <p:cNvPr id="5" name="Picture 4" descr="A red text on a black background&#10;&#10;AI-generated content may be incorrect.">
            <a:extLst>
              <a:ext uri="{FF2B5EF4-FFF2-40B4-BE49-F238E27FC236}">
                <a16:creationId xmlns:a16="http://schemas.microsoft.com/office/drawing/2014/main" id="{BB2592A0-272E-7B16-1369-461F16CF3BD2}"/>
              </a:ext>
            </a:extLst>
          </p:cNvPr>
          <p:cNvPicPr>
            <a:picLocks noChangeAspect="1"/>
          </p:cNvPicPr>
          <p:nvPr/>
        </p:nvPicPr>
        <p:blipFill>
          <a:blip r:embed="rId3">
            <a:extLst>
              <a:ext uri="{28A0092B-C50C-407E-A947-70E740481C1C}">
                <a14:useLocalDpi xmlns:a14="http://schemas.microsoft.com/office/drawing/2010/main" val="0"/>
              </a:ext>
            </a:extLst>
          </a:blip>
          <a:srcRect l="1236" r="68"/>
          <a:stretch>
            <a:fillRect/>
          </a:stretch>
        </p:blipFill>
        <p:spPr>
          <a:xfrm>
            <a:off x="321731" y="557189"/>
            <a:ext cx="5668684" cy="5743618"/>
          </a:xfrm>
          <a:prstGeom prst="rect">
            <a:avLst/>
          </a:prstGeom>
        </p:spPr>
      </p:pic>
      <p:sp>
        <p:nvSpPr>
          <p:cNvPr id="8" name="TextBox 7">
            <a:extLst>
              <a:ext uri="{FF2B5EF4-FFF2-40B4-BE49-F238E27FC236}">
                <a16:creationId xmlns:a16="http://schemas.microsoft.com/office/drawing/2014/main" id="{7E554679-74C6-6BF0-0692-B7149D94FB83}"/>
              </a:ext>
            </a:extLst>
          </p:cNvPr>
          <p:cNvSpPr txBox="1"/>
          <p:nvPr/>
        </p:nvSpPr>
        <p:spPr>
          <a:xfrm>
            <a:off x="321731" y="4271080"/>
            <a:ext cx="5064085" cy="2062103"/>
          </a:xfrm>
          <a:prstGeom prst="rect">
            <a:avLst/>
          </a:prstGeom>
          <a:noFill/>
        </p:spPr>
        <p:txBody>
          <a:bodyPr wrap="square" rtlCol="0">
            <a:spAutoFit/>
          </a:bodyPr>
          <a:lstStyle/>
          <a:p>
            <a:r>
              <a:rPr lang="en-IN" sz="3200" b="1" dirty="0"/>
              <a:t> Restaurants Analysis</a:t>
            </a:r>
          </a:p>
          <a:p>
            <a:r>
              <a:rPr lang="en-IN" sz="1600" b="1" dirty="0"/>
              <a:t>  </a:t>
            </a:r>
            <a:r>
              <a:rPr lang="en-IN" sz="1600" b="1" dirty="0">
                <a:effectLst/>
              </a:rPr>
              <a:t>By Unmesh Sadawarte</a:t>
            </a:r>
            <a:endParaRPr lang="en-IN" sz="1600" b="0" dirty="0">
              <a:effectLst/>
            </a:endParaRPr>
          </a:p>
          <a:p>
            <a:br>
              <a:rPr lang="en-IN" sz="4000" dirty="0"/>
            </a:br>
            <a:endParaRPr lang="en-IN" sz="4000" dirty="0"/>
          </a:p>
        </p:txBody>
      </p:sp>
    </p:spTree>
    <p:extLst>
      <p:ext uri="{BB962C8B-B14F-4D97-AF65-F5344CB8AC3E}">
        <p14:creationId xmlns:p14="http://schemas.microsoft.com/office/powerpoint/2010/main" val="2142836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5" name="Picture 4" descr="Variety of fresh salads">
            <a:extLst>
              <a:ext uri="{FF2B5EF4-FFF2-40B4-BE49-F238E27FC236}">
                <a16:creationId xmlns:a16="http://schemas.microsoft.com/office/drawing/2014/main" id="{1B8BE0F9-40E3-7C36-70F3-9A2E168994E9}"/>
              </a:ext>
            </a:extLst>
          </p:cNvPr>
          <p:cNvPicPr>
            <a:picLocks noChangeAspect="1"/>
          </p:cNvPicPr>
          <p:nvPr/>
        </p:nvPicPr>
        <p:blipFill>
          <a:blip r:embed="rId3">
            <a:alphaModFix/>
          </a:blip>
          <a:srcRect r="5882" b="-1"/>
          <a:stretch>
            <a:fillRect/>
          </a:stretch>
        </p:blipFill>
        <p:spPr>
          <a:xfrm>
            <a:off x="4929775" y="0"/>
            <a:ext cx="7259175" cy="6707073"/>
          </a:xfrm>
          <a:prstGeom prst="rect">
            <a:avLst/>
          </a:prstGeom>
          <a:blipFill>
            <a:blip r:embed="rId4">
              <a:alphaModFix/>
            </a:blip>
            <a:tile tx="0" ty="0" sx="100000" sy="100000" flip="none" algn="tl"/>
          </a:blipFill>
        </p:spPr>
      </p:pic>
      <p:sp>
        <p:nvSpPr>
          <p:cNvPr id="3" name="TextBox 2">
            <a:extLst>
              <a:ext uri="{FF2B5EF4-FFF2-40B4-BE49-F238E27FC236}">
                <a16:creationId xmlns:a16="http://schemas.microsoft.com/office/drawing/2014/main" id="{52DB3B8D-0422-5E02-C140-5F6CF58FC80B}"/>
              </a:ext>
            </a:extLst>
          </p:cNvPr>
          <p:cNvSpPr txBox="1"/>
          <p:nvPr/>
        </p:nvSpPr>
        <p:spPr>
          <a:xfrm>
            <a:off x="0" y="-1"/>
            <a:ext cx="4929775" cy="6858001"/>
          </a:xfrm>
          <a:prstGeom prst="rect">
            <a:avLst/>
          </a:prstGeom>
          <a:blipFill>
            <a:blip r:embed="rId4"/>
            <a:tile tx="0" ty="0" sx="100000" sy="100000" flip="none" algn="tl"/>
          </a:blipFill>
        </p:spPr>
        <p:txBody>
          <a:bodyPr vert="horz" lIns="91440" tIns="45720" rIns="91440" bIns="45720" rtlCol="0">
            <a:noAutofit/>
          </a:bodyPr>
          <a:lstStyle/>
          <a:p>
            <a:pPr marL="285750" indent="-228600">
              <a:lnSpc>
                <a:spcPct val="90000"/>
              </a:lnSpc>
              <a:spcAft>
                <a:spcPts val="600"/>
              </a:spcAft>
              <a:buFont typeface="Arial" panose="020B0604020202020204" pitchFamily="34" charset="0"/>
              <a:buChar char="•"/>
            </a:pPr>
            <a:r>
              <a:rPr lang="en-US" dirty="0"/>
              <a:t>Zomato, </a:t>
            </a:r>
            <a:r>
              <a:rPr lang="en-US" b="1" dirty="0"/>
              <a:t>originally </a:t>
            </a:r>
            <a:r>
              <a:rPr lang="en-US" b="1" dirty="0" err="1"/>
              <a:t>Foodiebay</a:t>
            </a:r>
            <a:r>
              <a:rPr lang="en-US" dirty="0"/>
              <a:t>, is an Indian restaurant discovery and online food delivery platform founded in 2008</a:t>
            </a:r>
          </a:p>
          <a:p>
            <a:pPr marL="285750" indent="-228600">
              <a:lnSpc>
                <a:spcPct val="90000"/>
              </a:lnSpc>
              <a:spcAft>
                <a:spcPts val="600"/>
              </a:spcAft>
              <a:buFont typeface="Arial" panose="020B0604020202020204" pitchFamily="34" charset="0"/>
              <a:buChar char="•"/>
            </a:pPr>
            <a:r>
              <a:rPr lang="en-US" dirty="0"/>
              <a:t> Zomato operates in </a:t>
            </a:r>
            <a:r>
              <a:rPr lang="en-US" b="1" dirty="0"/>
              <a:t>multiple countries </a:t>
            </a:r>
            <a:r>
              <a:rPr lang="en-US" dirty="0"/>
              <a:t>and has achieved significant growth through </a:t>
            </a:r>
            <a:r>
              <a:rPr lang="en-US" b="1" dirty="0"/>
              <a:t>acquisitions and strategic adaptations</a:t>
            </a:r>
            <a:r>
              <a:rPr lang="en-US" dirty="0"/>
              <a:t>. </a:t>
            </a:r>
          </a:p>
          <a:p>
            <a:pPr marL="285750" indent="-228600">
              <a:lnSpc>
                <a:spcPct val="90000"/>
              </a:lnSpc>
              <a:spcAft>
                <a:spcPts val="600"/>
              </a:spcAft>
              <a:buFont typeface="Arial" panose="020B0604020202020204" pitchFamily="34" charset="0"/>
              <a:buChar char="•"/>
            </a:pPr>
            <a:r>
              <a:rPr lang="en-US" dirty="0"/>
              <a:t>The Project aims to </a:t>
            </a:r>
            <a:r>
              <a:rPr lang="en-US" b="1" dirty="0"/>
              <a:t>identify potential areas in specific countries where is can expand </a:t>
            </a:r>
            <a:r>
              <a:rPr lang="en-US" dirty="0"/>
              <a:t>and do business.</a:t>
            </a:r>
          </a:p>
          <a:p>
            <a:pPr marL="285750" indent="-228600">
              <a:lnSpc>
                <a:spcPct val="90000"/>
              </a:lnSpc>
              <a:spcAft>
                <a:spcPts val="600"/>
              </a:spcAft>
              <a:buFont typeface="Arial" panose="020B0604020202020204" pitchFamily="34" charset="0"/>
              <a:buChar char="•"/>
            </a:pPr>
            <a:r>
              <a:rPr lang="en-US" dirty="0"/>
              <a:t>It also </a:t>
            </a:r>
            <a:r>
              <a:rPr lang="en-US" b="1" dirty="0"/>
              <a:t>aims to find cuisine trends and analyze the local restaurants capability </a:t>
            </a:r>
            <a:r>
              <a:rPr lang="en-US" dirty="0"/>
              <a:t>and popularity.</a:t>
            </a:r>
          </a:p>
          <a:p>
            <a:pPr marL="285750" indent="-228600">
              <a:lnSpc>
                <a:spcPct val="90000"/>
              </a:lnSpc>
              <a:spcAft>
                <a:spcPts val="600"/>
              </a:spcAft>
              <a:buFont typeface="Arial" panose="020B0604020202020204" pitchFamily="34" charset="0"/>
              <a:buChar char="•"/>
            </a:pPr>
            <a:r>
              <a:rPr lang="en-US" dirty="0"/>
              <a:t>The platform provides </a:t>
            </a:r>
            <a:r>
              <a:rPr lang="en-US" b="1" dirty="0"/>
              <a:t>detailed restaurant information, menus, reviews, and ratings</a:t>
            </a:r>
            <a:r>
              <a:rPr lang="en-US" dirty="0"/>
              <a:t>, helping users make informed dining decisions while enabling restaurants to reach a wider audience.</a:t>
            </a:r>
          </a:p>
          <a:p>
            <a:pPr marL="285750" indent="-228600">
              <a:lnSpc>
                <a:spcPct val="90000"/>
              </a:lnSpc>
              <a:spcAft>
                <a:spcPts val="600"/>
              </a:spcAft>
              <a:buFont typeface="Arial" panose="020B0604020202020204" pitchFamily="34" charset="0"/>
              <a:buChar char="•"/>
            </a:pPr>
            <a:r>
              <a:rPr lang="en-US" dirty="0"/>
              <a:t>Zomato’s business model integrates discovery, delivery, and dining services, </a:t>
            </a:r>
            <a:r>
              <a:rPr lang="en-US" b="1" dirty="0"/>
              <a:t>offering end-to-end solutions from restaurant </a:t>
            </a:r>
            <a:r>
              <a:rPr lang="en-US" dirty="0"/>
              <a:t>search to doorstep delivery and digital table reservations.</a:t>
            </a:r>
          </a:p>
          <a:p>
            <a:pPr marL="57150">
              <a:lnSpc>
                <a:spcPct val="90000"/>
              </a:lnSpc>
              <a:spcAft>
                <a:spcPts val="600"/>
              </a:spcAft>
            </a:pPr>
            <a:endParaRPr lang="en-US" dirty="0">
              <a:solidFill>
                <a:schemeClr val="tx1">
                  <a:lumMod val="85000"/>
                  <a:lumOff val="15000"/>
                </a:schemeClr>
              </a:solidFill>
            </a:endParaRPr>
          </a:p>
        </p:txBody>
      </p:sp>
    </p:spTree>
    <p:extLst>
      <p:ext uri="{BB962C8B-B14F-4D97-AF65-F5344CB8AC3E}">
        <p14:creationId xmlns:p14="http://schemas.microsoft.com/office/powerpoint/2010/main" val="3292223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9"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2"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3"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5"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7"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8"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9"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0"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1"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2"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3"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4"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5"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6"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7"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8"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9"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31" name="Group 30">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2" name="Rectangle 31">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3"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4" name="Rectangle 33">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sp>
        <p:nvSpPr>
          <p:cNvPr id="36" name="Rectangle 35">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39"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0"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1"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2"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3"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4"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5"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6"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7"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8"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9"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0"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2"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3"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4"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5"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6"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7"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8"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9"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sp useBgFill="1">
        <p:nvSpPr>
          <p:cNvPr id="61" name="Rectangle 60">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8938FA29-9C2A-0077-2965-27D8D46099F5}"/>
              </a:ext>
            </a:extLst>
          </p:cNvPr>
          <p:cNvSpPr txBox="1"/>
          <p:nvPr/>
        </p:nvSpPr>
        <p:spPr>
          <a:xfrm>
            <a:off x="2451262" y="750630"/>
            <a:ext cx="8005000" cy="5299333"/>
          </a:xfrm>
          <a:prstGeom prst="rect">
            <a:avLst/>
          </a:prstGeom>
        </p:spPr>
        <p:txBody>
          <a:bodyPr vert="horz" lIns="91440" tIns="45720" rIns="91440" bIns="45720" rtlCol="0" anchor="t">
            <a:normAutofit/>
          </a:bodyPr>
          <a:lstStyle/>
          <a:p>
            <a:pPr indent="-228600" defTabSz="914400">
              <a:lnSpc>
                <a:spcPct val="110000"/>
              </a:lnSpc>
              <a:spcAft>
                <a:spcPts val="600"/>
              </a:spcAft>
              <a:buClr>
                <a:schemeClr val="accent1"/>
              </a:buClr>
              <a:buSzPct val="110000"/>
              <a:buFont typeface="Wingdings" panose="05000000000000000000" pitchFamily="2" charset="2"/>
              <a:buChar char="§"/>
            </a:pPr>
            <a:r>
              <a:rPr lang="en-US" sz="2000" b="1" i="0" u="none" strike="noStrike" dirty="0"/>
              <a:t>Problem Statement</a:t>
            </a:r>
          </a:p>
          <a:p>
            <a:pPr indent="-228600" defTabSz="914400">
              <a:lnSpc>
                <a:spcPct val="110000"/>
              </a:lnSpc>
              <a:spcAft>
                <a:spcPts val="600"/>
              </a:spcAft>
              <a:buClr>
                <a:schemeClr val="accent1"/>
              </a:buClr>
              <a:buSzPct val="110000"/>
              <a:buFont typeface="Wingdings" panose="05000000000000000000" pitchFamily="2" charset="2"/>
              <a:buChar char="§"/>
            </a:pPr>
            <a:endParaRPr lang="en-US" sz="1100" b="1" dirty="0"/>
          </a:p>
          <a:p>
            <a:pPr indent="-228600" defTabSz="914400">
              <a:lnSpc>
                <a:spcPct val="110000"/>
              </a:lnSpc>
              <a:buClr>
                <a:schemeClr val="accent1"/>
              </a:buClr>
              <a:buSzPct val="110000"/>
              <a:buFont typeface="Wingdings" panose="05000000000000000000" pitchFamily="2" charset="2"/>
              <a:buChar char="§"/>
            </a:pPr>
            <a:r>
              <a:rPr lang="en-US" sz="1400" dirty="0"/>
              <a:t>“Zomato, a global restaurant discovery and food delivery platform, aims to strategically expand its restaurant presence across new geographies to strengthen market share and brand visibility.</a:t>
            </a:r>
            <a:br>
              <a:rPr lang="en-US" sz="1400" dirty="0"/>
            </a:br>
            <a:r>
              <a:rPr lang="en-US" sz="1400" dirty="0"/>
              <a:t>As a data analyst consultant, your role is to conduct an in-depth analysis of Zomato’s existing restaurant data to identify high-potential markets, cities, and customer segments with lower competition and higher profitability opportunities.”</a:t>
            </a:r>
          </a:p>
          <a:p>
            <a:pPr indent="-228600" defTabSz="914400">
              <a:lnSpc>
                <a:spcPct val="110000"/>
              </a:lnSpc>
              <a:buClr>
                <a:schemeClr val="accent1"/>
              </a:buClr>
              <a:buSzPct val="110000"/>
              <a:buFont typeface="Wingdings" panose="05000000000000000000" pitchFamily="2" charset="2"/>
              <a:buChar char="§"/>
            </a:pPr>
            <a:endParaRPr lang="en-US" sz="1400" dirty="0"/>
          </a:p>
          <a:p>
            <a:pPr indent="-228600" defTabSz="914400">
              <a:lnSpc>
                <a:spcPct val="110000"/>
              </a:lnSpc>
              <a:buClr>
                <a:schemeClr val="accent1"/>
              </a:buClr>
              <a:buSzPct val="110000"/>
              <a:buFont typeface="Wingdings" panose="05000000000000000000" pitchFamily="2" charset="2"/>
              <a:buChar char="§"/>
            </a:pPr>
            <a:endParaRPr lang="en-US" sz="1400" dirty="0"/>
          </a:p>
          <a:p>
            <a:pPr indent="-228600" defTabSz="914400">
              <a:lnSpc>
                <a:spcPct val="110000"/>
              </a:lnSpc>
              <a:buClr>
                <a:schemeClr val="accent1"/>
              </a:buClr>
              <a:buSzPct val="110000"/>
              <a:buFont typeface="Wingdings" panose="05000000000000000000" pitchFamily="2" charset="2"/>
              <a:buChar char="§"/>
            </a:pPr>
            <a:r>
              <a:rPr lang="en-US" sz="1400" b="1" dirty="0"/>
              <a:t>The objective </a:t>
            </a:r>
            <a:r>
              <a:rPr lang="en-US" sz="1400" dirty="0"/>
              <a:t>is to derive actionable insights on:</a:t>
            </a:r>
          </a:p>
          <a:p>
            <a:pPr marL="285750" indent="-228600" defTabSz="914400">
              <a:lnSpc>
                <a:spcPct val="110000"/>
              </a:lnSpc>
              <a:buClr>
                <a:schemeClr val="accent1"/>
              </a:buClr>
              <a:buSzPct val="110000"/>
              <a:buFont typeface="Wingdings" panose="05000000000000000000" pitchFamily="2" charset="2"/>
              <a:buChar char="§"/>
            </a:pPr>
            <a:r>
              <a:rPr lang="en-US" sz="1400" dirty="0"/>
              <a:t>Market saturation levels and regional dining trends.</a:t>
            </a:r>
          </a:p>
          <a:p>
            <a:pPr marL="285750" indent="-228600" defTabSz="914400">
              <a:lnSpc>
                <a:spcPct val="110000"/>
              </a:lnSpc>
              <a:buClr>
                <a:schemeClr val="accent1"/>
              </a:buClr>
              <a:buSzPct val="110000"/>
              <a:buFont typeface="Wingdings" panose="05000000000000000000" pitchFamily="2" charset="2"/>
              <a:buChar char="§"/>
            </a:pPr>
            <a:r>
              <a:rPr lang="en-US" sz="1400" dirty="0"/>
              <a:t>Customer preferences, pricing behavior, and service expectations.</a:t>
            </a:r>
          </a:p>
          <a:p>
            <a:pPr marL="285750" indent="-228600" defTabSz="914400">
              <a:lnSpc>
                <a:spcPct val="110000"/>
              </a:lnSpc>
              <a:buClr>
                <a:schemeClr val="accent1"/>
              </a:buClr>
              <a:buSzPct val="110000"/>
              <a:buFont typeface="Wingdings" panose="05000000000000000000" pitchFamily="2" charset="2"/>
              <a:buChar char="§"/>
            </a:pPr>
            <a:r>
              <a:rPr lang="en-US" sz="1400" dirty="0"/>
              <a:t>Countries and cities offering favorable conditions for new restaurant openings.</a:t>
            </a:r>
          </a:p>
          <a:p>
            <a:pPr indent="-228600" defTabSz="914400">
              <a:lnSpc>
                <a:spcPct val="110000"/>
              </a:lnSpc>
              <a:buClr>
                <a:schemeClr val="accent1"/>
              </a:buClr>
              <a:buSzPct val="110000"/>
              <a:buFont typeface="Wingdings" panose="05000000000000000000" pitchFamily="2" charset="2"/>
              <a:buChar char="§"/>
            </a:pPr>
            <a:endParaRPr lang="en-US" sz="1400" dirty="0"/>
          </a:p>
          <a:p>
            <a:pPr indent="-228600" defTabSz="914400">
              <a:lnSpc>
                <a:spcPct val="110000"/>
              </a:lnSpc>
              <a:buClr>
                <a:schemeClr val="accent1"/>
              </a:buClr>
              <a:buSzPct val="110000"/>
              <a:buFont typeface="Wingdings" panose="05000000000000000000" pitchFamily="2" charset="2"/>
              <a:buChar char="§"/>
            </a:pPr>
            <a:endParaRPr lang="en-US" sz="1400" dirty="0"/>
          </a:p>
          <a:p>
            <a:pPr indent="-228600" defTabSz="914400">
              <a:lnSpc>
                <a:spcPct val="110000"/>
              </a:lnSpc>
              <a:buClr>
                <a:schemeClr val="accent1"/>
              </a:buClr>
              <a:buSzPct val="110000"/>
              <a:buFont typeface="Wingdings" panose="05000000000000000000" pitchFamily="2" charset="2"/>
              <a:buChar char="§"/>
            </a:pPr>
            <a:r>
              <a:rPr lang="en-US" sz="1400" dirty="0"/>
              <a:t>This analysis will form the foundation for </a:t>
            </a:r>
            <a:r>
              <a:rPr lang="en-US" sz="1400" b="1" dirty="0"/>
              <a:t>data-driven strategic recommendations</a:t>
            </a:r>
            <a:r>
              <a:rPr lang="en-US" sz="1400" dirty="0"/>
              <a:t>, ensuring Zomato’s future restaurant expansions are aligned with consumer demand, operational feasibility, and sustainable business growth.</a:t>
            </a:r>
          </a:p>
          <a:p>
            <a:pPr indent="-228600" defTabSz="914400">
              <a:lnSpc>
                <a:spcPct val="110000"/>
              </a:lnSpc>
              <a:spcAft>
                <a:spcPts val="600"/>
              </a:spcAft>
              <a:buClr>
                <a:schemeClr val="accent1"/>
              </a:buClr>
              <a:buSzPct val="110000"/>
              <a:buFont typeface="Wingdings" panose="05000000000000000000" pitchFamily="2" charset="2"/>
              <a:buChar char="§"/>
            </a:pPr>
            <a:endParaRPr lang="en-US" sz="1100" b="1" dirty="0"/>
          </a:p>
          <a:p>
            <a:pPr indent="-228600" defTabSz="914400">
              <a:lnSpc>
                <a:spcPct val="110000"/>
              </a:lnSpc>
              <a:spcAft>
                <a:spcPts val="600"/>
              </a:spcAft>
              <a:buClr>
                <a:schemeClr val="accent1"/>
              </a:buClr>
              <a:buSzPct val="110000"/>
              <a:buFont typeface="Wingdings" panose="05000000000000000000" pitchFamily="2" charset="2"/>
              <a:buChar char="§"/>
            </a:pPr>
            <a:endParaRPr lang="en-US" sz="1100" dirty="0"/>
          </a:p>
        </p:txBody>
      </p:sp>
    </p:spTree>
    <p:extLst>
      <p:ext uri="{BB962C8B-B14F-4D97-AF65-F5344CB8AC3E}">
        <p14:creationId xmlns:p14="http://schemas.microsoft.com/office/powerpoint/2010/main" val="2584138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6EFCE1D-6FF1-DEDE-ADF7-AD3B1868EC84}"/>
              </a:ext>
            </a:extLst>
          </p:cNvPr>
          <p:cNvSpPr>
            <a:spLocks noGrp="1" noChangeArrowheads="1"/>
          </p:cNvSpPr>
          <p:nvPr>
            <p:ph type="title"/>
          </p:nvPr>
        </p:nvSpPr>
        <p:spPr bwMode="auto">
          <a:xfrm>
            <a:off x="789787" y="2516145"/>
            <a:ext cx="370906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dirty="0">
                <a:ln>
                  <a:noFill/>
                </a:ln>
                <a:solidFill>
                  <a:schemeClr val="tx1"/>
                </a:solidFill>
                <a:effectLst/>
                <a:highlight>
                  <a:srgbClr val="FFFF00"/>
                </a:highlight>
                <a:latin typeface="Amasis MT Pro Medium" panose="02040604050005020304" pitchFamily="18" charset="0"/>
              </a:rPr>
              <a:t>Raw Data</a:t>
            </a:r>
            <a:r>
              <a:rPr kumimoji="0" lang="en-US" altLang="en-US" sz="1600" b="0" i="0" u="none" strike="noStrike" cap="none" normalizeH="0" baseline="0" dirty="0">
                <a:ln>
                  <a:noFill/>
                </a:ln>
                <a:solidFill>
                  <a:schemeClr val="tx1"/>
                </a:solidFill>
                <a:effectLst/>
                <a:highlight>
                  <a:srgbClr val="FFFF00"/>
                </a:highlight>
                <a:latin typeface="Amasis MT Pro Medium" panose="02040604050005020304" pitchFamily="18" charset="0"/>
              </a:rPr>
              <a:t> </a:t>
            </a:r>
            <a:r>
              <a:rPr kumimoji="0" lang="en-US" altLang="en-US" sz="1600" b="0" i="0" u="none" strike="noStrike" cap="none" normalizeH="0" baseline="0" dirty="0">
                <a:ln>
                  <a:noFill/>
                </a:ln>
                <a:solidFill>
                  <a:schemeClr val="tx1"/>
                </a:solidFill>
                <a:effectLst/>
                <a:highlight>
                  <a:srgbClr val="00FF00"/>
                </a:highlight>
                <a:latin typeface="Amasis MT Pro Medium" panose="02040604050005020304" pitchFamily="18" charset="0"/>
              </a:rPr>
              <a:t>– Restaurant-level details (name, location, rating, cost, votes, cuisines</a:t>
            </a:r>
            <a:r>
              <a:rPr kumimoji="0" lang="en-US" altLang="en-US" sz="1600" b="0" i="0" u="none" strike="noStrike" cap="none" normalizeH="0" baseline="0" dirty="0">
                <a:ln>
                  <a:noFill/>
                </a:ln>
                <a:solidFill>
                  <a:schemeClr val="tx1"/>
                </a:solidFill>
                <a:effectLst/>
                <a:latin typeface="Amasis MT Pro Medium" panose="02040604050005020304" pitchFamily="18" charset="0"/>
              </a:rPr>
              <a:t>).</a:t>
            </a:r>
          </a:p>
          <a:p>
            <a:pPr lvl="0" algn="l" eaLnBrk="0" fontAlgn="base" hangingPunct="0">
              <a:lnSpc>
                <a:spcPct val="100000"/>
              </a:lnSpc>
              <a:spcAft>
                <a:spcPct val="0"/>
              </a:spcAft>
              <a:buFontTx/>
              <a:buChar char="•"/>
            </a:pPr>
            <a:r>
              <a:rPr kumimoji="0" lang="en-US" altLang="en-US" sz="1600" b="0" i="1" u="none" strike="noStrike" cap="none" normalizeH="0" baseline="0" dirty="0">
                <a:ln>
                  <a:noFill/>
                </a:ln>
                <a:solidFill>
                  <a:schemeClr val="tx1"/>
                </a:solidFill>
                <a:effectLst/>
                <a:highlight>
                  <a:srgbClr val="FFFF00"/>
                </a:highlight>
                <a:latin typeface="Amasis MT Pro Medium" panose="02040604050005020304" pitchFamily="18" charset="0"/>
              </a:rPr>
              <a:t>Country Description</a:t>
            </a:r>
            <a:r>
              <a:rPr kumimoji="0" lang="en-US" altLang="en-US" sz="1600" b="0" i="0" u="none" strike="noStrike" cap="none" normalizeH="0" baseline="0" dirty="0">
                <a:ln>
                  <a:noFill/>
                </a:ln>
                <a:solidFill>
                  <a:schemeClr val="tx1"/>
                </a:solidFill>
                <a:effectLst/>
                <a:highlight>
                  <a:srgbClr val="FFFF00"/>
                </a:highlight>
                <a:latin typeface="Amasis MT Pro Medium" panose="02040604050005020304" pitchFamily="18" charset="0"/>
              </a:rPr>
              <a:t> </a:t>
            </a:r>
            <a:r>
              <a:rPr kumimoji="0" lang="en-US" altLang="en-US" sz="1600" b="0" i="0" u="none" strike="noStrike" cap="none" normalizeH="0" baseline="0" dirty="0">
                <a:ln>
                  <a:noFill/>
                </a:ln>
                <a:solidFill>
                  <a:schemeClr val="tx1"/>
                </a:solidFill>
                <a:effectLst/>
                <a:latin typeface="Amasis MT Pro Medium" panose="02040604050005020304" pitchFamily="18" charset="0"/>
              </a:rPr>
              <a:t>– </a:t>
            </a:r>
            <a:r>
              <a:rPr kumimoji="0" lang="en-US" altLang="en-US" sz="1600" b="0" i="0" u="none" strike="noStrike" cap="none" normalizeH="0" baseline="0" dirty="0">
                <a:ln>
                  <a:noFill/>
                </a:ln>
                <a:solidFill>
                  <a:schemeClr val="tx1"/>
                </a:solidFill>
                <a:effectLst/>
                <a:highlight>
                  <a:srgbClr val="00FF00"/>
                </a:highlight>
                <a:latin typeface="Amasis MT Pro Medium" panose="02040604050005020304" pitchFamily="18" charset="0"/>
              </a:rPr>
              <a:t>Country codes, names, and currency conversion rates</a:t>
            </a:r>
            <a:r>
              <a:rPr kumimoji="0" lang="en-US" altLang="en-US" sz="1600" b="0" i="0" u="none" strike="noStrike" cap="none" normalizeH="0" baseline="0" dirty="0">
                <a:ln>
                  <a:noFill/>
                </a:ln>
                <a:solidFill>
                  <a:schemeClr val="tx1"/>
                </a:solidFill>
                <a:effectLst/>
                <a:latin typeface="Arial" panose="020B0604020202020204" pitchFamily="34" charset="0"/>
              </a:rPr>
              <a:t>.</a:t>
            </a:r>
            <a:br>
              <a:rPr kumimoji="0" lang="en-US" altLang="en-US" sz="1600" b="0" i="0" u="none" strike="noStrike" cap="none" normalizeH="0" baseline="0" dirty="0">
                <a:ln>
                  <a:noFill/>
                </a:ln>
                <a:solidFill>
                  <a:schemeClr val="tx1"/>
                </a:solidFill>
                <a:effectLst/>
                <a:latin typeface="Arial" panose="020B0604020202020204" pitchFamily="34" charset="0"/>
              </a:rPr>
            </a:br>
            <a:r>
              <a:rPr lang="en-IN" sz="1600" dirty="0">
                <a:solidFill>
                  <a:schemeClr val="tx1"/>
                </a:solidFill>
                <a:highlight>
                  <a:srgbClr val="FFFF00"/>
                </a:highlight>
                <a:latin typeface="Amasis MT Pro Medium" panose="02040604050005020304" pitchFamily="18" charset="0"/>
              </a:rPr>
              <a:t>Total Attributes (Columns): 15   </a:t>
            </a:r>
            <a:br>
              <a:rPr lang="en-IN" sz="1600" i="1" dirty="0">
                <a:solidFill>
                  <a:schemeClr val="tx1"/>
                </a:solidFill>
                <a:highlight>
                  <a:srgbClr val="FFFF00"/>
                </a:highlight>
                <a:latin typeface="Amasis MT Pro Medium" panose="02040604050005020304" pitchFamily="18" charset="0"/>
              </a:rPr>
            </a:br>
            <a:r>
              <a:rPr lang="en-IN" sz="1600" dirty="0">
                <a:solidFill>
                  <a:schemeClr val="tx1"/>
                </a:solidFill>
                <a:highlight>
                  <a:srgbClr val="FFFF00"/>
                </a:highlight>
                <a:latin typeface="Amasis MT Pro Medium" panose="02040604050005020304" pitchFamily="18" charset="0"/>
              </a:rPr>
              <a:t>Important Variables</a:t>
            </a:r>
            <a:r>
              <a:rPr lang="en-IN" sz="1600" i="1" dirty="0">
                <a:solidFill>
                  <a:schemeClr val="tx1"/>
                </a:solidFill>
                <a:highlight>
                  <a:srgbClr val="FFFF00"/>
                </a:highlight>
                <a:latin typeface="Amasis MT Pro Medium" panose="02040604050005020304" pitchFamily="18" charset="0"/>
              </a:rPr>
              <a:t>:</a:t>
            </a:r>
            <a:br>
              <a:rPr lang="en-IN" sz="1600" i="1" dirty="0">
                <a:solidFill>
                  <a:schemeClr val="tx1"/>
                </a:solidFill>
                <a:highlight>
                  <a:srgbClr val="FFFF00"/>
                </a:highlight>
                <a:latin typeface="Amasis MT Pro Medium" panose="02040604050005020304" pitchFamily="18" charset="0"/>
              </a:rPr>
            </a:br>
            <a:r>
              <a:rPr lang="en-US" sz="1600" i="1" dirty="0">
                <a:solidFill>
                  <a:schemeClr val="tx1"/>
                </a:solidFill>
                <a:highlight>
                  <a:srgbClr val="00FF00"/>
                </a:highlight>
                <a:latin typeface="Amasis MT Pro Medium" panose="02040604050005020304" pitchFamily="18" charset="0"/>
              </a:rPr>
              <a:t>Country, City, Cuisines, Average Cost for Two, Price Range, Rating, Votes, Has Table Booking, Has Online Delivery</a:t>
            </a:r>
            <a:r>
              <a:rPr lang="en-US" sz="1600" i="1" dirty="0">
                <a:solidFill>
                  <a:schemeClr val="tx1"/>
                </a:solidFill>
                <a:latin typeface="Amasis MT Pro Medium" panose="02040604050005020304" pitchFamily="18" charset="0"/>
              </a:rPr>
              <a:t>.</a:t>
            </a:r>
            <a:endParaRPr lang="en-US" altLang="en-US" sz="1600" i="1" dirty="0">
              <a:solidFill>
                <a:schemeClr val="tx1"/>
              </a:solidFill>
              <a:latin typeface="Amasis MT Pro Medium" panose="02040604050005020304" pitchFamily="18" charset="0"/>
            </a:endParaRPr>
          </a:p>
        </p:txBody>
      </p:sp>
      <p:sp>
        <p:nvSpPr>
          <p:cNvPr id="5" name="Text Placeholder 4">
            <a:extLst>
              <a:ext uri="{FF2B5EF4-FFF2-40B4-BE49-F238E27FC236}">
                <a16:creationId xmlns:a16="http://schemas.microsoft.com/office/drawing/2014/main" id="{6DC2F7C4-2C54-B895-0EE7-B14584209BC0}"/>
              </a:ext>
            </a:extLst>
          </p:cNvPr>
          <p:cNvSpPr>
            <a:spLocks noGrp="1"/>
          </p:cNvSpPr>
          <p:nvPr>
            <p:ph type="body" idx="1"/>
          </p:nvPr>
        </p:nvSpPr>
        <p:spPr/>
        <p:txBody>
          <a:bodyPr/>
          <a:lstStyle/>
          <a:p>
            <a:r>
              <a:rPr lang="en-US" dirty="0"/>
              <a:t>Data Overview </a:t>
            </a:r>
            <a:endParaRPr lang="en-IN" dirty="0"/>
          </a:p>
        </p:txBody>
      </p:sp>
      <p:graphicFrame>
        <p:nvGraphicFramePr>
          <p:cNvPr id="9" name="Content Placeholder 2">
            <a:extLst>
              <a:ext uri="{FF2B5EF4-FFF2-40B4-BE49-F238E27FC236}">
                <a16:creationId xmlns:a16="http://schemas.microsoft.com/office/drawing/2014/main" id="{F7FA9552-D0BB-6D4A-6760-7C256E585544}"/>
              </a:ext>
            </a:extLst>
          </p:cNvPr>
          <p:cNvGraphicFramePr>
            <a:graphicFrameLocks noGrp="1"/>
          </p:cNvGraphicFramePr>
          <p:nvPr>
            <p:ph sz="half" idx="2"/>
            <p:extLst>
              <p:ext uri="{D42A27DB-BD31-4B8C-83A1-F6EECF244321}">
                <p14:modId xmlns:p14="http://schemas.microsoft.com/office/powerpoint/2010/main" val="3211749722"/>
              </p:ext>
            </p:extLst>
          </p:nvPr>
        </p:nvGraphicFramePr>
        <p:xfrm>
          <a:off x="5126038" y="1489075"/>
          <a:ext cx="6386258" cy="1697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5">
            <a:extLst>
              <a:ext uri="{FF2B5EF4-FFF2-40B4-BE49-F238E27FC236}">
                <a16:creationId xmlns:a16="http://schemas.microsoft.com/office/drawing/2014/main" id="{2F4D6A3A-2FDB-160F-5AE5-91E1676CDA28}"/>
              </a:ext>
            </a:extLst>
          </p:cNvPr>
          <p:cNvSpPr>
            <a:spLocks noGrp="1"/>
          </p:cNvSpPr>
          <p:nvPr>
            <p:ph type="body" sz="quarter" idx="3"/>
          </p:nvPr>
        </p:nvSpPr>
        <p:spPr/>
        <p:txBody>
          <a:bodyPr/>
          <a:lstStyle/>
          <a:p>
            <a:r>
              <a:rPr lang="en-US" dirty="0"/>
              <a:t>Data cleaning and preprocessing </a:t>
            </a:r>
            <a:endParaRPr lang="en-IN" dirty="0"/>
          </a:p>
        </p:txBody>
      </p:sp>
      <p:sp>
        <p:nvSpPr>
          <p:cNvPr id="7" name="Content Placeholder 6">
            <a:extLst>
              <a:ext uri="{FF2B5EF4-FFF2-40B4-BE49-F238E27FC236}">
                <a16:creationId xmlns:a16="http://schemas.microsoft.com/office/drawing/2014/main" id="{B78B9DEF-3E11-B8C9-474F-25142D92FC0B}"/>
              </a:ext>
            </a:extLst>
          </p:cNvPr>
          <p:cNvSpPr>
            <a:spLocks noGrp="1"/>
          </p:cNvSpPr>
          <p:nvPr>
            <p:ph sz="quarter" idx="4"/>
          </p:nvPr>
        </p:nvSpPr>
        <p:spPr>
          <a:xfrm>
            <a:off x="5118447" y="4351686"/>
            <a:ext cx="6265588" cy="2085689"/>
          </a:xfrm>
        </p:spPr>
        <p:txBody>
          <a:bodyPr>
            <a:noAutofit/>
          </a:bodyPr>
          <a:lstStyle/>
          <a:p>
            <a:r>
              <a:rPr lang="en-US" sz="1050" dirty="0"/>
              <a:t>Added a column of country according to its </a:t>
            </a:r>
            <a:r>
              <a:rPr lang="en-US" sz="1050" dirty="0" err="1"/>
              <a:t>country_code</a:t>
            </a:r>
            <a:r>
              <a:rPr lang="en-US" sz="1050" dirty="0"/>
              <a:t> using XLOOKUP</a:t>
            </a:r>
          </a:p>
          <a:p>
            <a:r>
              <a:rPr lang="en-IN" sz="1050" dirty="0"/>
              <a:t>Filled Missing values of Longitude and Latitude according to provided city and country.</a:t>
            </a:r>
          </a:p>
          <a:p>
            <a:r>
              <a:rPr lang="en-IN" sz="1050" dirty="0"/>
              <a:t>Deleted 9 empty rows of cuisines.</a:t>
            </a:r>
          </a:p>
          <a:p>
            <a:r>
              <a:rPr lang="en-IN" sz="1050" dirty="0"/>
              <a:t>Gave each column its appropriate data-type.</a:t>
            </a:r>
          </a:p>
          <a:p>
            <a:r>
              <a:rPr lang="en-IN" sz="1050" dirty="0"/>
              <a:t>Separated city column from locality .</a:t>
            </a:r>
          </a:p>
          <a:p>
            <a:r>
              <a:rPr lang="en-IN" sz="1050" dirty="0" err="1"/>
              <a:t>Seperated</a:t>
            </a:r>
            <a:r>
              <a:rPr lang="en-IN" sz="1050" dirty="0"/>
              <a:t> Year from </a:t>
            </a:r>
            <a:r>
              <a:rPr lang="en-IN" sz="1050" dirty="0" err="1"/>
              <a:t>date_key_opening</a:t>
            </a:r>
            <a:r>
              <a:rPr lang="en-IN" sz="1050" dirty="0"/>
              <a:t> using TEXT() function</a:t>
            </a:r>
          </a:p>
          <a:p>
            <a:endParaRPr lang="en-IN" sz="1050" dirty="0"/>
          </a:p>
        </p:txBody>
      </p:sp>
      <p:sp>
        <p:nvSpPr>
          <p:cNvPr id="2" name="TextBox 1">
            <a:extLst>
              <a:ext uri="{FF2B5EF4-FFF2-40B4-BE49-F238E27FC236}">
                <a16:creationId xmlns:a16="http://schemas.microsoft.com/office/drawing/2014/main" id="{005A9164-DDF4-C298-9EC5-9618077B68DB}"/>
              </a:ext>
            </a:extLst>
          </p:cNvPr>
          <p:cNvSpPr txBox="1"/>
          <p:nvPr/>
        </p:nvSpPr>
        <p:spPr>
          <a:xfrm>
            <a:off x="889001" y="1773936"/>
            <a:ext cx="3420565" cy="369332"/>
          </a:xfrm>
          <a:prstGeom prst="rect">
            <a:avLst/>
          </a:prstGeom>
          <a:noFill/>
        </p:spPr>
        <p:txBody>
          <a:bodyPr wrap="square" rtlCol="0">
            <a:spAutoFit/>
          </a:bodyPr>
          <a:lstStyle/>
          <a:p>
            <a:r>
              <a:rPr lang="en-US" dirty="0" err="1">
                <a:solidFill>
                  <a:srgbClr val="FF0000"/>
                </a:solidFill>
              </a:rPr>
              <a:t>Z</a:t>
            </a:r>
            <a:r>
              <a:rPr lang="en-US" b="1" dirty="0" err="1"/>
              <a:t>Data</a:t>
            </a:r>
            <a:r>
              <a:rPr lang="en-US" b="1" dirty="0"/>
              <a:t>  Used:</a:t>
            </a:r>
            <a:endParaRPr lang="en-IN" dirty="0"/>
          </a:p>
        </p:txBody>
      </p:sp>
    </p:spTree>
    <p:extLst>
      <p:ext uri="{BB962C8B-B14F-4D97-AF65-F5344CB8AC3E}">
        <p14:creationId xmlns:p14="http://schemas.microsoft.com/office/powerpoint/2010/main" val="333752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20" name="Picture 19" descr="A hand holding a coin&#10;&#10;AI-generated content may be incorrect.">
            <a:extLst>
              <a:ext uri="{FF2B5EF4-FFF2-40B4-BE49-F238E27FC236}">
                <a16:creationId xmlns:a16="http://schemas.microsoft.com/office/drawing/2014/main" id="{1F189E49-D6A3-23DA-3BEA-02095E32FF87}"/>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256300"/>
            <a:ext cx="8023430" cy="6601700"/>
          </a:xfrm>
          <a:prstGeom prst="rect">
            <a:avLst/>
          </a:prstGeom>
        </p:spPr>
      </p:pic>
      <p:sp>
        <p:nvSpPr>
          <p:cNvPr id="3" name="Text Placeholder 2">
            <a:extLst>
              <a:ext uri="{FF2B5EF4-FFF2-40B4-BE49-F238E27FC236}">
                <a16:creationId xmlns:a16="http://schemas.microsoft.com/office/drawing/2014/main" id="{43FDACB5-8A96-E4DB-E67F-17C6E1A5D1E8}"/>
              </a:ext>
            </a:extLst>
          </p:cNvPr>
          <p:cNvSpPr>
            <a:spLocks noGrp="1"/>
          </p:cNvSpPr>
          <p:nvPr>
            <p:ph type="body" idx="1"/>
          </p:nvPr>
        </p:nvSpPr>
        <p:spPr>
          <a:xfrm>
            <a:off x="839788" y="1553528"/>
            <a:ext cx="5157787" cy="823912"/>
          </a:xfrm>
        </p:spPr>
        <p:txBody>
          <a:bodyPr/>
          <a:lstStyle/>
          <a:p>
            <a:r>
              <a:rPr lang="en-US" dirty="0">
                <a:solidFill>
                  <a:schemeClr val="tx1"/>
                </a:solidFill>
              </a:rPr>
              <a:t>Data Cleaning </a:t>
            </a:r>
            <a:endParaRPr lang="en-IN" dirty="0">
              <a:solidFill>
                <a:schemeClr val="tx1"/>
              </a:solidFill>
            </a:endParaRPr>
          </a:p>
        </p:txBody>
      </p:sp>
      <p:sp>
        <p:nvSpPr>
          <p:cNvPr id="4" name="Content Placeholder 3">
            <a:extLst>
              <a:ext uri="{FF2B5EF4-FFF2-40B4-BE49-F238E27FC236}">
                <a16:creationId xmlns:a16="http://schemas.microsoft.com/office/drawing/2014/main" id="{27C419EA-1CBA-AD59-E83D-5390D826E5C3}"/>
              </a:ext>
            </a:extLst>
          </p:cNvPr>
          <p:cNvSpPr>
            <a:spLocks noGrp="1"/>
          </p:cNvSpPr>
          <p:nvPr>
            <p:ph sz="half" idx="2"/>
          </p:nvPr>
        </p:nvSpPr>
        <p:spPr>
          <a:xfrm>
            <a:off x="839788" y="2304287"/>
            <a:ext cx="3604196" cy="2660905"/>
          </a:xfrm>
        </p:spPr>
        <p:txBody>
          <a:bodyPr>
            <a:normAutofit lnSpcReduction="10000"/>
          </a:bodyPr>
          <a:lstStyle/>
          <a:p>
            <a:r>
              <a:rPr lang="en-GB" dirty="0"/>
              <a:t>Blank spaces filled with means and relevant data. New calculated columns are created like ‘Average price for 2’ with their own currency symbol and an equivalent price in Indian rupee to better understand the price range.</a:t>
            </a:r>
            <a:endParaRPr lang="en-IN" dirty="0"/>
          </a:p>
          <a:p>
            <a:endParaRPr lang="en-IN" dirty="0"/>
          </a:p>
        </p:txBody>
      </p:sp>
      <p:pic>
        <p:nvPicPr>
          <p:cNvPr id="10" name="Picture 9">
            <a:extLst>
              <a:ext uri="{FF2B5EF4-FFF2-40B4-BE49-F238E27FC236}">
                <a16:creationId xmlns:a16="http://schemas.microsoft.com/office/drawing/2014/main" id="{48C139E1-CBFD-67A8-3139-9C7C85778065}"/>
              </a:ext>
            </a:extLst>
          </p:cNvPr>
          <p:cNvPicPr>
            <a:picLocks noChangeAspect="1"/>
          </p:cNvPicPr>
          <p:nvPr/>
        </p:nvPicPr>
        <p:blipFill>
          <a:blip r:embed="rId3"/>
          <a:stretch>
            <a:fillRect/>
          </a:stretch>
        </p:blipFill>
        <p:spPr>
          <a:xfrm>
            <a:off x="6652269" y="3449290"/>
            <a:ext cx="1617774" cy="315151"/>
          </a:xfrm>
          <a:prstGeom prst="rect">
            <a:avLst/>
          </a:prstGeom>
        </p:spPr>
      </p:pic>
      <p:pic>
        <p:nvPicPr>
          <p:cNvPr id="12" name="Picture 11">
            <a:extLst>
              <a:ext uri="{FF2B5EF4-FFF2-40B4-BE49-F238E27FC236}">
                <a16:creationId xmlns:a16="http://schemas.microsoft.com/office/drawing/2014/main" id="{529BAACB-44CB-7743-91CD-0D5AB9326226}"/>
              </a:ext>
            </a:extLst>
          </p:cNvPr>
          <p:cNvPicPr>
            <a:picLocks noChangeAspect="1"/>
          </p:cNvPicPr>
          <p:nvPr/>
        </p:nvPicPr>
        <p:blipFill>
          <a:blip r:embed="rId4"/>
          <a:stretch>
            <a:fillRect/>
          </a:stretch>
        </p:blipFill>
        <p:spPr>
          <a:xfrm>
            <a:off x="6652269" y="2576689"/>
            <a:ext cx="4628782" cy="315151"/>
          </a:xfrm>
          <a:prstGeom prst="rect">
            <a:avLst/>
          </a:prstGeom>
        </p:spPr>
      </p:pic>
      <p:pic>
        <p:nvPicPr>
          <p:cNvPr id="14" name="Picture 13">
            <a:extLst>
              <a:ext uri="{FF2B5EF4-FFF2-40B4-BE49-F238E27FC236}">
                <a16:creationId xmlns:a16="http://schemas.microsoft.com/office/drawing/2014/main" id="{2C6894F8-93A1-1B89-D25B-0FEE6C8F6EF8}"/>
              </a:ext>
            </a:extLst>
          </p:cNvPr>
          <p:cNvPicPr>
            <a:picLocks noChangeAspect="1"/>
          </p:cNvPicPr>
          <p:nvPr/>
        </p:nvPicPr>
        <p:blipFill>
          <a:blip r:embed="rId5"/>
          <a:stretch>
            <a:fillRect/>
          </a:stretch>
        </p:blipFill>
        <p:spPr>
          <a:xfrm>
            <a:off x="6652269" y="4066342"/>
            <a:ext cx="4780189" cy="1281959"/>
          </a:xfrm>
          <a:prstGeom prst="rect">
            <a:avLst/>
          </a:prstGeom>
        </p:spPr>
      </p:pic>
      <p:pic>
        <p:nvPicPr>
          <p:cNvPr id="16" name="Picture 15">
            <a:extLst>
              <a:ext uri="{FF2B5EF4-FFF2-40B4-BE49-F238E27FC236}">
                <a16:creationId xmlns:a16="http://schemas.microsoft.com/office/drawing/2014/main" id="{9D2055AE-5B65-363F-FD72-4A11904BD626}"/>
              </a:ext>
            </a:extLst>
          </p:cNvPr>
          <p:cNvPicPr>
            <a:picLocks noChangeAspect="1"/>
          </p:cNvPicPr>
          <p:nvPr/>
        </p:nvPicPr>
        <p:blipFill>
          <a:blip r:embed="rId6"/>
          <a:stretch>
            <a:fillRect/>
          </a:stretch>
        </p:blipFill>
        <p:spPr>
          <a:xfrm>
            <a:off x="6652269" y="2949289"/>
            <a:ext cx="4628782" cy="301846"/>
          </a:xfrm>
          <a:prstGeom prst="rect">
            <a:avLst/>
          </a:prstGeom>
        </p:spPr>
      </p:pic>
    </p:spTree>
    <p:extLst>
      <p:ext uri="{BB962C8B-B14F-4D97-AF65-F5344CB8AC3E}">
        <p14:creationId xmlns:p14="http://schemas.microsoft.com/office/powerpoint/2010/main" val="3469650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5C53AD93-CBF8-E30B-9A09-FB91DCEA8554}"/>
              </a:ext>
            </a:extLst>
          </p:cNvPr>
          <p:cNvGrpSpPr/>
          <p:nvPr/>
        </p:nvGrpSpPr>
        <p:grpSpPr>
          <a:xfrm>
            <a:off x="598488" y="1485647"/>
            <a:ext cx="11019764" cy="1815317"/>
            <a:chOff x="424573" y="2285999"/>
            <a:chExt cx="11919827" cy="1963587"/>
          </a:xfrm>
        </p:grpSpPr>
        <p:sp>
          <p:nvSpPr>
            <p:cNvPr id="7" name="Rectangle 6">
              <a:extLst>
                <a:ext uri="{FF2B5EF4-FFF2-40B4-BE49-F238E27FC236}">
                  <a16:creationId xmlns:a16="http://schemas.microsoft.com/office/drawing/2014/main" id="{8A9D9A2E-9001-6CCD-357F-A00EFDF4493C}"/>
                </a:ext>
              </a:extLst>
            </p:cNvPr>
            <p:cNvSpPr/>
            <p:nvPr/>
          </p:nvSpPr>
          <p:spPr>
            <a:xfrm>
              <a:off x="424573" y="2285999"/>
              <a:ext cx="2775827" cy="1963587"/>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defTabSz="420624">
                <a:spcAft>
                  <a:spcPts val="600"/>
                </a:spcAft>
              </a:pPr>
              <a:endParaRPr sz="1656" kern="1200" dirty="0">
                <a:solidFill>
                  <a:srgbClr val="555555"/>
                </a:solidFill>
                <a:latin typeface="+mn-lt"/>
                <a:ea typeface="+mn-ea"/>
                <a:cs typeface="+mn-cs"/>
              </a:endParaRPr>
            </a:p>
            <a:p>
              <a:pPr algn="ctr" defTabSz="420624">
                <a:spcAft>
                  <a:spcPts val="600"/>
                </a:spcAft>
                <a:defRPr sz="1600" b="1">
                  <a:solidFill>
                    <a:srgbClr val="333333"/>
                  </a:solidFill>
                </a:defRPr>
              </a:pPr>
              <a:r>
                <a:rPr sz="1472" b="1" kern="1200" dirty="0">
                  <a:solidFill>
                    <a:srgbClr val="333333"/>
                  </a:solidFill>
                  <a:latin typeface="+mn-lt"/>
                  <a:ea typeface="+mn-ea"/>
                  <a:cs typeface="+mn-cs"/>
                </a:rPr>
                <a:t>1️⃣ Data Preparation</a:t>
              </a:r>
            </a:p>
            <a:p>
              <a:pPr defTabSz="420624">
                <a:spcAft>
                  <a:spcPts val="600"/>
                </a:spcAft>
                <a:defRPr sz="1200">
                  <a:solidFill>
                    <a:srgbClr val="333333"/>
                  </a:solidFill>
                </a:defRPr>
              </a:pPr>
              <a:r>
                <a:rPr sz="1104" kern="1200" dirty="0">
                  <a:solidFill>
                    <a:srgbClr val="333333"/>
                  </a:solidFill>
                  <a:latin typeface="+mn-lt"/>
                  <a:ea typeface="+mn-ea"/>
                  <a:cs typeface="+mn-cs"/>
                </a:rPr>
                <a:t>• Merged Raw Data &amp; Country Description</a:t>
              </a:r>
              <a:br>
                <a:rPr sz="1104" kern="1200" dirty="0">
                  <a:solidFill>
                    <a:srgbClr val="333333"/>
                  </a:solidFill>
                  <a:latin typeface="+mn-lt"/>
                  <a:ea typeface="+mn-ea"/>
                  <a:cs typeface="+mn-cs"/>
                </a:rPr>
              </a:br>
              <a:r>
                <a:rPr sz="1104" kern="1200" dirty="0">
                  <a:solidFill>
                    <a:srgbClr val="333333"/>
                  </a:solidFill>
                  <a:latin typeface="+mn-lt"/>
                  <a:ea typeface="+mn-ea"/>
                  <a:cs typeface="+mn-cs"/>
                </a:rPr>
                <a:t>• Cleaned duplicates, handled missing values</a:t>
              </a:r>
              <a:br>
                <a:rPr sz="1104" kern="1200" dirty="0">
                  <a:solidFill>
                    <a:srgbClr val="333333"/>
                  </a:solidFill>
                  <a:latin typeface="+mn-lt"/>
                  <a:ea typeface="+mn-ea"/>
                  <a:cs typeface="+mn-cs"/>
                </a:rPr>
              </a:br>
              <a:r>
                <a:rPr sz="1104" kern="1200" dirty="0">
                  <a:solidFill>
                    <a:srgbClr val="333333"/>
                  </a:solidFill>
                  <a:latin typeface="+mn-lt"/>
                  <a:ea typeface="+mn-ea"/>
                  <a:cs typeface="+mn-cs"/>
                </a:rPr>
                <a:t>• Standardized currencies via XLOOKUP</a:t>
              </a:r>
              <a:br>
                <a:rPr sz="1104" kern="1200" dirty="0">
                  <a:solidFill>
                    <a:srgbClr val="333333"/>
                  </a:solidFill>
                  <a:latin typeface="+mn-lt"/>
                  <a:ea typeface="+mn-ea"/>
                  <a:cs typeface="+mn-cs"/>
                </a:rPr>
              </a:br>
              <a:r>
                <a:rPr sz="1104" kern="1200" dirty="0">
                  <a:solidFill>
                    <a:srgbClr val="333333"/>
                  </a:solidFill>
                  <a:latin typeface="+mn-lt"/>
                  <a:ea typeface="+mn-ea"/>
                  <a:cs typeface="+mn-cs"/>
                </a:rPr>
                <a:t>• Created new derived columns</a:t>
              </a:r>
              <a:endParaRPr dirty="0"/>
            </a:p>
          </p:txBody>
        </p:sp>
        <p:sp>
          <p:nvSpPr>
            <p:cNvPr id="8" name="Rectangle 7">
              <a:extLst>
                <a:ext uri="{FF2B5EF4-FFF2-40B4-BE49-F238E27FC236}">
                  <a16:creationId xmlns:a16="http://schemas.microsoft.com/office/drawing/2014/main" id="{54D6769A-1356-AF80-8F24-CA44D2132F0C}"/>
                </a:ext>
              </a:extLst>
            </p:cNvPr>
            <p:cNvSpPr/>
            <p:nvPr/>
          </p:nvSpPr>
          <p:spPr>
            <a:xfrm>
              <a:off x="3474720" y="2286000"/>
              <a:ext cx="2743200" cy="1963586"/>
            </a:xfrm>
            <a:prstGeom prst="rect">
              <a:avLst/>
            </a:prstGeom>
            <a:solidFill>
              <a:srgbClr val="A9D18E"/>
            </a:solidFill>
            <a:ln>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defTabSz="420624">
                <a:spcAft>
                  <a:spcPts val="600"/>
                </a:spcAft>
              </a:pPr>
              <a:endParaRPr sz="1656" kern="1200" dirty="0">
                <a:solidFill>
                  <a:srgbClr val="555555"/>
                </a:solidFill>
                <a:latin typeface="+mn-lt"/>
                <a:ea typeface="+mn-ea"/>
                <a:cs typeface="+mn-cs"/>
              </a:endParaRPr>
            </a:p>
            <a:p>
              <a:pPr algn="ctr" defTabSz="420624">
                <a:spcAft>
                  <a:spcPts val="600"/>
                </a:spcAft>
                <a:defRPr sz="1600" b="1">
                  <a:solidFill>
                    <a:srgbClr val="333333"/>
                  </a:solidFill>
                </a:defRPr>
              </a:pPr>
              <a:r>
                <a:rPr sz="1472" b="1" kern="1200" dirty="0">
                  <a:solidFill>
                    <a:srgbClr val="333333"/>
                  </a:solidFill>
                  <a:latin typeface="+mn-lt"/>
                  <a:ea typeface="+mn-ea"/>
                  <a:cs typeface="+mn-cs"/>
                </a:rPr>
                <a:t>2️⃣ Data Analysis</a:t>
              </a:r>
            </a:p>
            <a:p>
              <a:pPr defTabSz="420624">
                <a:spcAft>
                  <a:spcPts val="600"/>
                </a:spcAft>
                <a:defRPr sz="1200">
                  <a:solidFill>
                    <a:srgbClr val="333333"/>
                  </a:solidFill>
                </a:defRPr>
              </a:pPr>
              <a:r>
                <a:rPr sz="1104" kern="1200" dirty="0">
                  <a:solidFill>
                    <a:srgbClr val="333333"/>
                  </a:solidFill>
                  <a:latin typeface="+mn-lt"/>
                  <a:ea typeface="+mn-ea"/>
                  <a:cs typeface="+mn-cs"/>
                </a:rPr>
                <a:t>• Built Pivot Tables for metrics</a:t>
              </a:r>
              <a:br>
                <a:rPr sz="1104" kern="1200" dirty="0">
                  <a:solidFill>
                    <a:srgbClr val="333333"/>
                  </a:solidFill>
                  <a:latin typeface="+mn-lt"/>
                  <a:ea typeface="+mn-ea"/>
                  <a:cs typeface="+mn-cs"/>
                </a:rPr>
              </a:br>
              <a:r>
                <a:rPr sz="1104" kern="1200" dirty="0">
                  <a:solidFill>
                    <a:srgbClr val="333333"/>
                  </a:solidFill>
                  <a:latin typeface="+mn-lt"/>
                  <a:ea typeface="+mn-ea"/>
                  <a:cs typeface="+mn-cs"/>
                </a:rPr>
                <a:t>• Applied COUNTIFS, AVERAGEIFS, IF formulas</a:t>
              </a:r>
              <a:br>
                <a:rPr sz="1104" kern="1200" dirty="0">
                  <a:solidFill>
                    <a:srgbClr val="333333"/>
                  </a:solidFill>
                  <a:latin typeface="+mn-lt"/>
                  <a:ea typeface="+mn-ea"/>
                  <a:cs typeface="+mn-cs"/>
                </a:rPr>
              </a:br>
              <a:r>
                <a:rPr sz="1104" kern="1200" dirty="0">
                  <a:solidFill>
                    <a:srgbClr val="333333"/>
                  </a:solidFill>
                  <a:latin typeface="+mn-lt"/>
                  <a:ea typeface="+mn-ea"/>
                  <a:cs typeface="+mn-cs"/>
                </a:rPr>
                <a:t>• Evaluated trends in ratings, costs &amp; cuisines</a:t>
              </a:r>
              <a:br>
                <a:rPr sz="1104" kern="1200" dirty="0">
                  <a:solidFill>
                    <a:srgbClr val="333333"/>
                  </a:solidFill>
                  <a:latin typeface="+mn-lt"/>
                  <a:ea typeface="+mn-ea"/>
                  <a:cs typeface="+mn-cs"/>
                </a:rPr>
              </a:br>
              <a:r>
                <a:rPr sz="1104" kern="1200" dirty="0">
                  <a:solidFill>
                    <a:srgbClr val="333333"/>
                  </a:solidFill>
                  <a:latin typeface="+mn-lt"/>
                  <a:ea typeface="+mn-ea"/>
                  <a:cs typeface="+mn-cs"/>
                </a:rPr>
                <a:t>• Measured correlations</a:t>
              </a:r>
              <a:endParaRPr dirty="0"/>
            </a:p>
          </p:txBody>
        </p:sp>
        <p:sp>
          <p:nvSpPr>
            <p:cNvPr id="9" name="Rectangle 8">
              <a:extLst>
                <a:ext uri="{FF2B5EF4-FFF2-40B4-BE49-F238E27FC236}">
                  <a16:creationId xmlns:a16="http://schemas.microsoft.com/office/drawing/2014/main" id="{AEF304A5-6559-06A5-0D81-66164E38A9B5}"/>
                </a:ext>
              </a:extLst>
            </p:cNvPr>
            <p:cNvSpPr/>
            <p:nvPr/>
          </p:nvSpPr>
          <p:spPr>
            <a:xfrm>
              <a:off x="6492240" y="2286000"/>
              <a:ext cx="2743200" cy="1963586"/>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defTabSz="420624">
                <a:spcAft>
                  <a:spcPts val="600"/>
                </a:spcAft>
                <a:defRPr sz="1600" b="1">
                  <a:solidFill>
                    <a:srgbClr val="333333"/>
                  </a:solidFill>
                </a:defRPr>
              </a:pPr>
              <a:r>
                <a:rPr sz="1472" b="1" kern="1200">
                  <a:solidFill>
                    <a:srgbClr val="333333"/>
                  </a:solidFill>
                  <a:latin typeface="+mn-lt"/>
                  <a:ea typeface="+mn-ea"/>
                  <a:cs typeface="+mn-cs"/>
                </a:rPr>
                <a:t>3️⃣ Visualization</a:t>
              </a:r>
              <a:r>
                <a:rPr lang="en-US" sz="1472" b="1" kern="1200">
                  <a:solidFill>
                    <a:srgbClr val="333333"/>
                  </a:solidFill>
                  <a:latin typeface="+mn-lt"/>
                  <a:ea typeface="+mn-ea"/>
                  <a:cs typeface="+mn-cs"/>
                </a:rPr>
                <a:t> </a:t>
              </a:r>
            </a:p>
            <a:p>
              <a:pPr defTabSz="420624">
                <a:spcAft>
                  <a:spcPts val="600"/>
                </a:spcAft>
                <a:defRPr sz="1200">
                  <a:solidFill>
                    <a:srgbClr val="333333"/>
                  </a:solidFill>
                </a:defRPr>
              </a:pPr>
              <a:r>
                <a:rPr lang="en-US" sz="1104" kern="1200">
                  <a:solidFill>
                    <a:srgbClr val="333333"/>
                  </a:solidFill>
                  <a:latin typeface="+mn-lt"/>
                  <a:ea typeface="+mn-ea"/>
                  <a:cs typeface="+mn-cs"/>
                </a:rPr>
                <a:t>• Developed dynamic charts &amp; slicers</a:t>
              </a:r>
              <a:br>
                <a:rPr lang="en-US" sz="1104" kern="1200">
                  <a:solidFill>
                    <a:srgbClr val="333333"/>
                  </a:solidFill>
                  <a:latin typeface="+mn-lt"/>
                  <a:ea typeface="+mn-ea"/>
                  <a:cs typeface="+mn-cs"/>
                </a:rPr>
              </a:br>
              <a:r>
                <a:rPr lang="en-US" sz="1104" kern="1200">
                  <a:solidFill>
                    <a:srgbClr val="333333"/>
                  </a:solidFill>
                  <a:latin typeface="+mn-lt"/>
                  <a:ea typeface="+mn-ea"/>
                  <a:cs typeface="+mn-cs"/>
                </a:rPr>
                <a:t>• Added KPI cards for key metrics</a:t>
              </a:r>
              <a:br>
                <a:rPr lang="en-US" sz="1104" kern="1200">
                  <a:solidFill>
                    <a:srgbClr val="333333"/>
                  </a:solidFill>
                  <a:latin typeface="+mn-lt"/>
                  <a:ea typeface="+mn-ea"/>
                  <a:cs typeface="+mn-cs"/>
                </a:rPr>
              </a:br>
              <a:r>
                <a:rPr lang="en-US" sz="1104" kern="1200">
                  <a:solidFill>
                    <a:srgbClr val="333333"/>
                  </a:solidFill>
                  <a:latin typeface="+mn-lt"/>
                  <a:ea typeface="+mn-ea"/>
                  <a:cs typeface="+mn-cs"/>
                </a:rPr>
                <a:t>• Maintained consistent Zomato theme</a:t>
              </a:r>
              <a:endParaRPr lang="en-US"/>
            </a:p>
          </p:txBody>
        </p:sp>
        <p:sp>
          <p:nvSpPr>
            <p:cNvPr id="10" name="Rectangle 9">
              <a:extLst>
                <a:ext uri="{FF2B5EF4-FFF2-40B4-BE49-F238E27FC236}">
                  <a16:creationId xmlns:a16="http://schemas.microsoft.com/office/drawing/2014/main" id="{50067D1E-AC15-4CD3-9431-C924D004EE22}"/>
                </a:ext>
              </a:extLst>
            </p:cNvPr>
            <p:cNvSpPr/>
            <p:nvPr/>
          </p:nvSpPr>
          <p:spPr>
            <a:xfrm>
              <a:off x="9601200" y="2286001"/>
              <a:ext cx="2743200" cy="1963585"/>
            </a:xfrm>
            <a:prstGeom prst="rect">
              <a:avLst/>
            </a:prstGeom>
            <a:solidFill>
              <a:srgbClr val="E23744"/>
            </a:solidFill>
            <a:ln>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defTabSz="420624">
                <a:spcAft>
                  <a:spcPts val="600"/>
                </a:spcAft>
              </a:pPr>
              <a:endParaRPr sz="1656" kern="1200" dirty="0">
                <a:solidFill>
                  <a:srgbClr val="555555"/>
                </a:solidFill>
                <a:latin typeface="+mn-lt"/>
                <a:ea typeface="+mn-ea"/>
                <a:cs typeface="+mn-cs"/>
              </a:endParaRPr>
            </a:p>
            <a:p>
              <a:pPr algn="ctr" defTabSz="420624">
                <a:spcAft>
                  <a:spcPts val="600"/>
                </a:spcAft>
                <a:defRPr sz="1600" b="1">
                  <a:solidFill>
                    <a:srgbClr val="333333"/>
                  </a:solidFill>
                </a:defRPr>
              </a:pPr>
              <a:r>
                <a:rPr sz="1472" b="1" kern="1200" dirty="0">
                  <a:solidFill>
                    <a:srgbClr val="333333"/>
                  </a:solidFill>
                  <a:latin typeface="+mn-lt"/>
                  <a:ea typeface="+mn-ea"/>
                  <a:cs typeface="+mn-cs"/>
                </a:rPr>
                <a:t>4️⃣ Insights &amp; Recommendations</a:t>
              </a:r>
            </a:p>
            <a:p>
              <a:pPr defTabSz="420624">
                <a:spcAft>
                  <a:spcPts val="600"/>
                </a:spcAft>
                <a:defRPr sz="1200">
                  <a:solidFill>
                    <a:srgbClr val="333333"/>
                  </a:solidFill>
                </a:defRPr>
              </a:pPr>
              <a:r>
                <a:rPr sz="1104" kern="1200" dirty="0">
                  <a:solidFill>
                    <a:srgbClr val="333333"/>
                  </a:solidFill>
                  <a:latin typeface="+mn-lt"/>
                  <a:ea typeface="+mn-ea"/>
                  <a:cs typeface="+mn-cs"/>
                </a:rPr>
                <a:t>• Identified high-potential countries</a:t>
              </a:r>
              <a:br>
                <a:rPr sz="1104" kern="1200" dirty="0">
                  <a:solidFill>
                    <a:srgbClr val="333333"/>
                  </a:solidFill>
                  <a:latin typeface="+mn-lt"/>
                  <a:ea typeface="+mn-ea"/>
                  <a:cs typeface="+mn-cs"/>
                </a:rPr>
              </a:br>
              <a:r>
                <a:rPr sz="1104" kern="1200" dirty="0">
                  <a:solidFill>
                    <a:srgbClr val="333333"/>
                  </a:solidFill>
                  <a:latin typeface="+mn-lt"/>
                  <a:ea typeface="+mn-ea"/>
                  <a:cs typeface="+mn-cs"/>
                </a:rPr>
                <a:t>• Recommended cuisines &amp; pricing strategies</a:t>
              </a:r>
              <a:br>
                <a:rPr sz="1104" kern="1200" dirty="0">
                  <a:solidFill>
                    <a:srgbClr val="333333"/>
                  </a:solidFill>
                  <a:latin typeface="+mn-lt"/>
                  <a:ea typeface="+mn-ea"/>
                  <a:cs typeface="+mn-cs"/>
                </a:rPr>
              </a:br>
              <a:r>
                <a:rPr sz="1104" kern="1200" dirty="0">
                  <a:solidFill>
                    <a:srgbClr val="333333"/>
                  </a:solidFill>
                  <a:latin typeface="+mn-lt"/>
                  <a:ea typeface="+mn-ea"/>
                  <a:cs typeface="+mn-cs"/>
                </a:rPr>
                <a:t>• Proposed tech-enabled service improvements</a:t>
              </a:r>
              <a:endParaRPr dirty="0"/>
            </a:p>
          </p:txBody>
        </p:sp>
        <p:sp>
          <p:nvSpPr>
            <p:cNvPr id="11" name="Hexagon 10">
              <a:extLst>
                <a:ext uri="{FF2B5EF4-FFF2-40B4-BE49-F238E27FC236}">
                  <a16:creationId xmlns:a16="http://schemas.microsoft.com/office/drawing/2014/main" id="{D396CFE4-A28C-1026-C055-AE39F6D2F752}"/>
                </a:ext>
              </a:extLst>
            </p:cNvPr>
            <p:cNvSpPr/>
            <p:nvPr/>
          </p:nvSpPr>
          <p:spPr>
            <a:xfrm>
              <a:off x="3200400" y="2834640"/>
              <a:ext cx="365760" cy="365760"/>
            </a:xfrm>
            <a:prstGeom prst="hexagon">
              <a:avLst/>
            </a:prstGeom>
            <a:solidFill>
              <a:srgbClr val="E2374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exagon 11">
              <a:extLst>
                <a:ext uri="{FF2B5EF4-FFF2-40B4-BE49-F238E27FC236}">
                  <a16:creationId xmlns:a16="http://schemas.microsoft.com/office/drawing/2014/main" id="{FC5F0321-5329-7D42-86FE-B9244DBC2E73}"/>
                </a:ext>
              </a:extLst>
            </p:cNvPr>
            <p:cNvSpPr/>
            <p:nvPr/>
          </p:nvSpPr>
          <p:spPr>
            <a:xfrm>
              <a:off x="6217920" y="2834640"/>
              <a:ext cx="365760" cy="365760"/>
            </a:xfrm>
            <a:prstGeom prst="hexagon">
              <a:avLst/>
            </a:prstGeom>
            <a:solidFill>
              <a:srgbClr val="E2374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exagon 12">
              <a:extLst>
                <a:ext uri="{FF2B5EF4-FFF2-40B4-BE49-F238E27FC236}">
                  <a16:creationId xmlns:a16="http://schemas.microsoft.com/office/drawing/2014/main" id="{DC546A39-3816-971C-7146-D035F0426EFE}"/>
                </a:ext>
              </a:extLst>
            </p:cNvPr>
            <p:cNvSpPr/>
            <p:nvPr/>
          </p:nvSpPr>
          <p:spPr>
            <a:xfrm>
              <a:off x="9235440" y="2834640"/>
              <a:ext cx="365760" cy="365760"/>
            </a:xfrm>
            <a:prstGeom prst="hexagon">
              <a:avLst/>
            </a:prstGeom>
            <a:solidFill>
              <a:srgbClr val="E2374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5" name="TextBox 14">
            <a:extLst>
              <a:ext uri="{FF2B5EF4-FFF2-40B4-BE49-F238E27FC236}">
                <a16:creationId xmlns:a16="http://schemas.microsoft.com/office/drawing/2014/main" id="{DFC0E3ED-A7DA-D9A6-046D-BA85BCE053A9}"/>
              </a:ext>
            </a:extLst>
          </p:cNvPr>
          <p:cNvSpPr txBox="1"/>
          <p:nvPr/>
        </p:nvSpPr>
        <p:spPr>
          <a:xfrm>
            <a:off x="628651" y="745093"/>
            <a:ext cx="4672584" cy="461665"/>
          </a:xfrm>
          <a:prstGeom prst="rect">
            <a:avLst/>
          </a:prstGeom>
          <a:noFill/>
        </p:spPr>
        <p:txBody>
          <a:bodyPr wrap="square" rtlCol="0">
            <a:spAutoFit/>
          </a:bodyPr>
          <a:lstStyle/>
          <a:p>
            <a:r>
              <a:rPr lang="en-IN" sz="2400" b="1" dirty="0">
                <a:solidFill>
                  <a:srgbClr val="FF0000"/>
                </a:solidFill>
              </a:rPr>
              <a:t>Methodology</a:t>
            </a:r>
          </a:p>
        </p:txBody>
      </p:sp>
      <p:pic>
        <p:nvPicPr>
          <p:cNvPr id="17" name="Picture 16">
            <a:extLst>
              <a:ext uri="{FF2B5EF4-FFF2-40B4-BE49-F238E27FC236}">
                <a16:creationId xmlns:a16="http://schemas.microsoft.com/office/drawing/2014/main" id="{A05186B6-1AED-B53D-46A9-9946D9754185}"/>
              </a:ext>
            </a:extLst>
          </p:cNvPr>
          <p:cNvPicPr>
            <a:picLocks noChangeAspect="1"/>
          </p:cNvPicPr>
          <p:nvPr/>
        </p:nvPicPr>
        <p:blipFill>
          <a:blip r:embed="rId2"/>
          <a:stretch>
            <a:fillRect/>
          </a:stretch>
        </p:blipFill>
        <p:spPr>
          <a:xfrm>
            <a:off x="3421337" y="3421856"/>
            <a:ext cx="2476846" cy="1571844"/>
          </a:xfrm>
          <a:prstGeom prst="rect">
            <a:avLst/>
          </a:prstGeom>
        </p:spPr>
      </p:pic>
      <p:pic>
        <p:nvPicPr>
          <p:cNvPr id="44" name="Picture 43">
            <a:extLst>
              <a:ext uri="{FF2B5EF4-FFF2-40B4-BE49-F238E27FC236}">
                <a16:creationId xmlns:a16="http://schemas.microsoft.com/office/drawing/2014/main" id="{60AF3C00-3307-4656-F572-B33B64676D20}"/>
              </a:ext>
            </a:extLst>
          </p:cNvPr>
          <p:cNvPicPr>
            <a:picLocks noChangeAspect="1"/>
          </p:cNvPicPr>
          <p:nvPr/>
        </p:nvPicPr>
        <p:blipFill>
          <a:blip r:embed="rId3"/>
          <a:stretch>
            <a:fillRect/>
          </a:stretch>
        </p:blipFill>
        <p:spPr>
          <a:xfrm>
            <a:off x="6207987" y="3404786"/>
            <a:ext cx="2634504" cy="1807562"/>
          </a:xfrm>
          <a:prstGeom prst="rect">
            <a:avLst/>
          </a:prstGeom>
        </p:spPr>
      </p:pic>
      <p:sp>
        <p:nvSpPr>
          <p:cNvPr id="46" name="TextBox 45">
            <a:extLst>
              <a:ext uri="{FF2B5EF4-FFF2-40B4-BE49-F238E27FC236}">
                <a16:creationId xmlns:a16="http://schemas.microsoft.com/office/drawing/2014/main" id="{9D26267C-4502-9E28-D0CA-26760885A1B7}"/>
              </a:ext>
            </a:extLst>
          </p:cNvPr>
          <p:cNvSpPr txBox="1"/>
          <p:nvPr/>
        </p:nvSpPr>
        <p:spPr>
          <a:xfrm>
            <a:off x="9082190" y="3404786"/>
            <a:ext cx="2625622" cy="1708160"/>
          </a:xfrm>
          <a:prstGeom prst="rect">
            <a:avLst/>
          </a:prstGeom>
          <a:noFill/>
        </p:spPr>
        <p:txBody>
          <a:bodyPr wrap="square" rtlCol="0">
            <a:spAutoFit/>
          </a:bodyPr>
          <a:lstStyle/>
          <a:p>
            <a:r>
              <a:rPr lang="en-US" sz="1050" dirty="0"/>
              <a:t>the majority of restaurants fall within the </a:t>
            </a:r>
            <a:r>
              <a:rPr lang="en-US" sz="1050" b="1" dirty="0"/>
              <a:t>lower price ranges (1–2)</a:t>
            </a:r>
            <a:r>
              <a:rPr lang="en-US" sz="1050" dirty="0"/>
              <a:t>, with a sharp decline in count as prices increase. This indicates that </a:t>
            </a:r>
            <a:r>
              <a:rPr lang="en-US" sz="1050" b="1" dirty="0"/>
              <a:t>Zomato’s existing market is dominated by affordable and mid-range dining options</a:t>
            </a:r>
            <a:r>
              <a:rPr lang="en-US" sz="1050" dirty="0"/>
              <a:t>, while </a:t>
            </a:r>
            <a:r>
              <a:rPr lang="en-US" sz="1050" b="1" dirty="0"/>
              <a:t>premium or high-cost restaurants (Range 3–4)</a:t>
            </a:r>
            <a:r>
              <a:rPr lang="en-US" sz="1050" dirty="0"/>
              <a:t> are relatively scarce — suggesting potential for expansion in the upscale segment.</a:t>
            </a:r>
            <a:endParaRPr lang="en-IN" sz="1050" dirty="0"/>
          </a:p>
        </p:txBody>
      </p:sp>
      <p:sp>
        <p:nvSpPr>
          <p:cNvPr id="48" name="TextBox 47">
            <a:extLst>
              <a:ext uri="{FF2B5EF4-FFF2-40B4-BE49-F238E27FC236}">
                <a16:creationId xmlns:a16="http://schemas.microsoft.com/office/drawing/2014/main" id="{9A1069B1-A25E-A20F-1801-630761AB60EF}"/>
              </a:ext>
            </a:extLst>
          </p:cNvPr>
          <p:cNvSpPr txBox="1"/>
          <p:nvPr/>
        </p:nvSpPr>
        <p:spPr>
          <a:xfrm>
            <a:off x="628651" y="3429000"/>
            <a:ext cx="2690813" cy="1323439"/>
          </a:xfrm>
          <a:prstGeom prst="rect">
            <a:avLst/>
          </a:prstGeom>
          <a:noFill/>
        </p:spPr>
        <p:txBody>
          <a:bodyPr wrap="square" rtlCol="0">
            <a:spAutoFit/>
          </a:bodyPr>
          <a:lstStyle/>
          <a:p>
            <a:r>
              <a:rPr lang="en-US" sz="1600" dirty="0"/>
              <a:t>=XLOOKUP(C223,'country description'!$A$2:$A$16,'country description'!$B$2:$B$16,,0)</a:t>
            </a:r>
            <a:endParaRPr lang="en-IN" sz="1600" dirty="0"/>
          </a:p>
        </p:txBody>
      </p:sp>
    </p:spTree>
    <p:extLst>
      <p:ext uri="{BB962C8B-B14F-4D97-AF65-F5344CB8AC3E}">
        <p14:creationId xmlns:p14="http://schemas.microsoft.com/office/powerpoint/2010/main" val="3319329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C68922-A03E-1989-AD95-8A5CF3ACB830}"/>
              </a:ext>
            </a:extLst>
          </p:cNvPr>
          <p:cNvSpPr txBox="1"/>
          <p:nvPr/>
        </p:nvSpPr>
        <p:spPr>
          <a:xfrm>
            <a:off x="512064" y="1371909"/>
            <a:ext cx="4919472" cy="4801314"/>
          </a:xfrm>
          <a:prstGeom prst="rect">
            <a:avLst/>
          </a:prstGeom>
          <a:noFill/>
        </p:spPr>
        <p:txBody>
          <a:bodyPr wrap="square" rtlCol="0">
            <a:spAutoFit/>
          </a:bodyPr>
          <a:lstStyle/>
          <a:p>
            <a:pPr marL="285750" indent="-285750">
              <a:buFont typeface="Arial" panose="020B0604020202020204" pitchFamily="34" charset="0"/>
              <a:buChar char="•"/>
            </a:pPr>
            <a:r>
              <a:rPr lang="en-US" dirty="0"/>
              <a:t>This pie chart reveals that </a:t>
            </a:r>
            <a:r>
              <a:rPr lang="en-US" b="1" dirty="0"/>
              <a:t>India accounts for 90.59% of all restaurants in the dataset</a:t>
            </a:r>
            <a:r>
              <a:rPr lang="en-US" dirty="0"/>
              <a:t>, highlighting an extremely high market concentration in a single country.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Other nations like </a:t>
            </a:r>
            <a:r>
              <a:rPr lang="en-US" b="1" dirty="0"/>
              <a:t>New Zealand (4.54%)</a:t>
            </a:r>
            <a:r>
              <a:rPr lang="en-US" dirty="0"/>
              <a:t> and </a:t>
            </a:r>
            <a:r>
              <a:rPr lang="en-US" b="1" dirty="0"/>
              <a:t>Brazil (0.84%)</a:t>
            </a:r>
            <a:r>
              <a:rPr lang="en-US" dirty="0"/>
              <a:t> have marginal presence, while most remaining countries contribute less than 1% each.</a:t>
            </a:r>
          </a:p>
          <a:p>
            <a:pPr marL="285750" indent="-285750">
              <a:buFont typeface="Arial" panose="020B0604020202020204" pitchFamily="34" charset="0"/>
              <a:buChar char="•"/>
            </a:pPr>
            <a:br>
              <a:rPr lang="en-US" dirty="0"/>
            </a:br>
            <a:r>
              <a:rPr lang="en-US" dirty="0"/>
              <a:t>This indicates that </a:t>
            </a:r>
            <a:r>
              <a:rPr lang="en-US" b="1" dirty="0"/>
              <a:t>Zomato’s current operations are heavily focused in India</a:t>
            </a:r>
            <a:r>
              <a:rPr lang="en-US" dirty="0"/>
              <a:t>, suggesting a strong opportunity for </a:t>
            </a:r>
            <a:r>
              <a:rPr lang="en-US" b="1" dirty="0"/>
              <a:t>global diversification and expansion</a:t>
            </a:r>
            <a:r>
              <a:rPr lang="en-US" dirty="0"/>
              <a:t> into underrepresented international markets such as Brazil, Canada, and Australia.</a:t>
            </a:r>
            <a:endParaRPr lang="en-IN" dirty="0"/>
          </a:p>
        </p:txBody>
      </p:sp>
      <p:sp>
        <p:nvSpPr>
          <p:cNvPr id="5" name="TextBox 4">
            <a:extLst>
              <a:ext uri="{FF2B5EF4-FFF2-40B4-BE49-F238E27FC236}">
                <a16:creationId xmlns:a16="http://schemas.microsoft.com/office/drawing/2014/main" id="{F5E1AAF1-FCEB-64BD-0DF8-3E2778D4AF23}"/>
              </a:ext>
            </a:extLst>
          </p:cNvPr>
          <p:cNvSpPr txBox="1"/>
          <p:nvPr/>
        </p:nvSpPr>
        <p:spPr>
          <a:xfrm>
            <a:off x="512064" y="453944"/>
            <a:ext cx="6144768" cy="461665"/>
          </a:xfrm>
          <a:prstGeom prst="rect">
            <a:avLst/>
          </a:prstGeom>
          <a:noFill/>
        </p:spPr>
        <p:txBody>
          <a:bodyPr wrap="square" rtlCol="0">
            <a:spAutoFit/>
          </a:bodyPr>
          <a:lstStyle/>
          <a:p>
            <a:r>
              <a:rPr lang="en-IN" sz="2400" b="1" dirty="0">
                <a:solidFill>
                  <a:srgbClr val="FF0000"/>
                </a:solidFill>
              </a:rPr>
              <a:t>Country-wise Restaurant Distribution</a:t>
            </a:r>
          </a:p>
        </p:txBody>
      </p:sp>
      <p:pic>
        <p:nvPicPr>
          <p:cNvPr id="6" name="Picture 5">
            <a:extLst>
              <a:ext uri="{FF2B5EF4-FFF2-40B4-BE49-F238E27FC236}">
                <a16:creationId xmlns:a16="http://schemas.microsoft.com/office/drawing/2014/main" id="{FB7BECFE-B97C-0518-1ED0-430305119FCE}"/>
              </a:ext>
            </a:extLst>
          </p:cNvPr>
          <p:cNvPicPr>
            <a:picLocks noChangeAspect="1"/>
          </p:cNvPicPr>
          <p:nvPr/>
        </p:nvPicPr>
        <p:blipFill>
          <a:blip r:embed="rId2"/>
          <a:stretch>
            <a:fillRect/>
          </a:stretch>
        </p:blipFill>
        <p:spPr>
          <a:xfrm>
            <a:off x="6096000" y="1528472"/>
            <a:ext cx="5915851" cy="416300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10786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D462D2-DBB5-E648-A364-9BF16F1D0381}"/>
              </a:ext>
            </a:extLst>
          </p:cNvPr>
          <p:cNvPicPr>
            <a:picLocks noChangeAspect="1"/>
          </p:cNvPicPr>
          <p:nvPr/>
        </p:nvPicPr>
        <p:blipFill>
          <a:blip r:embed="rId2"/>
          <a:stretch>
            <a:fillRect/>
          </a:stretch>
        </p:blipFill>
        <p:spPr>
          <a:xfrm>
            <a:off x="6742818" y="1728406"/>
            <a:ext cx="4897036" cy="2999041"/>
          </a:xfrm>
          <a:prstGeom prst="rect">
            <a:avLst/>
          </a:prstGeom>
          <a:ln w="88900" cap="sq" cmpd="thickThin">
            <a:solidFill>
              <a:srgbClr val="000000"/>
            </a:solidFill>
            <a:prstDash val="solid"/>
            <a:miter lim="800000"/>
          </a:ln>
          <a:effectLst>
            <a:innerShdw blurRad="76200">
              <a:srgbClr val="000000"/>
            </a:innerShdw>
          </a:effectLst>
        </p:spPr>
      </p:pic>
      <p:sp>
        <p:nvSpPr>
          <p:cNvPr id="4" name="TextBox 3">
            <a:extLst>
              <a:ext uri="{FF2B5EF4-FFF2-40B4-BE49-F238E27FC236}">
                <a16:creationId xmlns:a16="http://schemas.microsoft.com/office/drawing/2014/main" id="{C6ED75A5-57D1-1AF2-7996-E32280E75090}"/>
              </a:ext>
            </a:extLst>
          </p:cNvPr>
          <p:cNvSpPr txBox="1"/>
          <p:nvPr/>
        </p:nvSpPr>
        <p:spPr>
          <a:xfrm>
            <a:off x="658368" y="1728406"/>
            <a:ext cx="5437632" cy="2308324"/>
          </a:xfrm>
          <a:prstGeom prst="rect">
            <a:avLst/>
          </a:prstGeom>
          <a:noFill/>
        </p:spPr>
        <p:txBody>
          <a:bodyPr wrap="square" rtlCol="0">
            <a:spAutoFit/>
          </a:bodyPr>
          <a:lstStyle/>
          <a:p>
            <a:r>
              <a:rPr lang="en-US" b="1" dirty="0"/>
              <a:t>Insight:</a:t>
            </a:r>
            <a:br>
              <a:rPr lang="en-US" dirty="0"/>
            </a:br>
            <a:r>
              <a:rPr lang="en-US" dirty="0"/>
              <a:t>The trend shows a slight fluctuation in the number of restaurants opened each year, with a dip around 2012–2015 followed by steady recovery after 2016. The consistent rise from 2016 to 2018, reaching a peak of 1,003 restaurants, indicates renewed growth momentum and stable market expansion in recent years.</a:t>
            </a:r>
            <a:endParaRPr lang="en-IN" dirty="0"/>
          </a:p>
        </p:txBody>
      </p:sp>
      <p:sp>
        <p:nvSpPr>
          <p:cNvPr id="5" name="TextBox 4">
            <a:extLst>
              <a:ext uri="{FF2B5EF4-FFF2-40B4-BE49-F238E27FC236}">
                <a16:creationId xmlns:a16="http://schemas.microsoft.com/office/drawing/2014/main" id="{FE17D888-316F-BD70-A10C-8D3FA057956A}"/>
              </a:ext>
            </a:extLst>
          </p:cNvPr>
          <p:cNvSpPr txBox="1"/>
          <p:nvPr/>
        </p:nvSpPr>
        <p:spPr>
          <a:xfrm>
            <a:off x="658368" y="663035"/>
            <a:ext cx="4407408" cy="461665"/>
          </a:xfrm>
          <a:prstGeom prst="rect">
            <a:avLst/>
          </a:prstGeom>
          <a:noFill/>
        </p:spPr>
        <p:txBody>
          <a:bodyPr wrap="square" rtlCol="0">
            <a:spAutoFit/>
          </a:bodyPr>
          <a:lstStyle/>
          <a:p>
            <a:r>
              <a:rPr lang="en-IN" sz="2400" b="1" dirty="0">
                <a:solidFill>
                  <a:srgbClr val="FF0000"/>
                </a:solidFill>
              </a:rPr>
              <a:t>Year-wise Growth Trend</a:t>
            </a:r>
          </a:p>
        </p:txBody>
      </p:sp>
    </p:spTree>
    <p:extLst>
      <p:ext uri="{BB962C8B-B14F-4D97-AF65-F5344CB8AC3E}">
        <p14:creationId xmlns:p14="http://schemas.microsoft.com/office/powerpoint/2010/main" val="3962450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993542-25BA-26B4-8F2C-7C67881156B5}"/>
              </a:ext>
            </a:extLst>
          </p:cNvPr>
          <p:cNvSpPr txBox="1"/>
          <p:nvPr/>
        </p:nvSpPr>
        <p:spPr>
          <a:xfrm>
            <a:off x="603504" y="1007626"/>
            <a:ext cx="6094476" cy="461665"/>
          </a:xfrm>
          <a:prstGeom prst="rect">
            <a:avLst/>
          </a:prstGeom>
          <a:noFill/>
        </p:spPr>
        <p:txBody>
          <a:bodyPr wrap="square">
            <a:spAutoFit/>
          </a:bodyPr>
          <a:lstStyle/>
          <a:p>
            <a:r>
              <a:rPr lang="en-IN" sz="2400" b="1" dirty="0">
                <a:solidFill>
                  <a:srgbClr val="FF0000"/>
                </a:solidFill>
              </a:rPr>
              <a:t>Price Range Distribution</a:t>
            </a:r>
          </a:p>
        </p:txBody>
      </p:sp>
      <p:pic>
        <p:nvPicPr>
          <p:cNvPr id="5" name="Picture 4">
            <a:extLst>
              <a:ext uri="{FF2B5EF4-FFF2-40B4-BE49-F238E27FC236}">
                <a16:creationId xmlns:a16="http://schemas.microsoft.com/office/drawing/2014/main" id="{D7F4BE2A-CC87-5515-8241-4F5D2106729D}"/>
              </a:ext>
            </a:extLst>
          </p:cNvPr>
          <p:cNvPicPr>
            <a:picLocks noChangeAspect="1"/>
          </p:cNvPicPr>
          <p:nvPr/>
        </p:nvPicPr>
        <p:blipFill>
          <a:blip r:embed="rId2"/>
          <a:stretch>
            <a:fillRect/>
          </a:stretch>
        </p:blipFill>
        <p:spPr>
          <a:xfrm>
            <a:off x="7004585" y="1970531"/>
            <a:ext cx="4163006" cy="2734057"/>
          </a:xfrm>
          <a:prstGeom prst="rect">
            <a:avLst/>
          </a:prstGeom>
          <a:ln w="228600" cap="sq" cmpd="thickThin">
            <a:solidFill>
              <a:srgbClr val="000000"/>
            </a:solidFill>
            <a:prstDash val="solid"/>
            <a:miter lim="800000"/>
          </a:ln>
          <a:effectLst>
            <a:innerShdw blurRad="76200">
              <a:srgbClr val="000000"/>
            </a:innerShdw>
          </a:effectLst>
        </p:spPr>
      </p:pic>
      <p:sp>
        <p:nvSpPr>
          <p:cNvPr id="6" name="TextBox 5">
            <a:extLst>
              <a:ext uri="{FF2B5EF4-FFF2-40B4-BE49-F238E27FC236}">
                <a16:creationId xmlns:a16="http://schemas.microsoft.com/office/drawing/2014/main" id="{7EDFA71E-BDC9-2DFF-59DD-381147966FC1}"/>
              </a:ext>
            </a:extLst>
          </p:cNvPr>
          <p:cNvSpPr txBox="1"/>
          <p:nvPr/>
        </p:nvSpPr>
        <p:spPr>
          <a:xfrm>
            <a:off x="603504" y="1527048"/>
            <a:ext cx="5824728" cy="5355312"/>
          </a:xfrm>
          <a:prstGeom prst="rect">
            <a:avLst/>
          </a:prstGeom>
          <a:noFill/>
        </p:spPr>
        <p:txBody>
          <a:bodyPr wrap="square" rtlCol="0">
            <a:spAutoFit/>
          </a:bodyPr>
          <a:lstStyle/>
          <a:p>
            <a:r>
              <a:rPr lang="en-US" b="1" dirty="0"/>
              <a:t>Insight:</a:t>
            </a:r>
          </a:p>
          <a:p>
            <a:br>
              <a:rPr lang="en-US" dirty="0"/>
            </a:br>
            <a:r>
              <a:rPr lang="en-US" dirty="0"/>
              <a:t>The chart reveals a clear inverse relationship between restaurant count and price range.</a:t>
            </a:r>
          </a:p>
          <a:p>
            <a:endParaRPr lang="en-US" dirty="0"/>
          </a:p>
          <a:p>
            <a:pPr marL="285750" indent="-285750">
              <a:buFont typeface="Arial" panose="020B0604020202020204" pitchFamily="34" charset="0"/>
              <a:buChar char="•"/>
            </a:pPr>
            <a:r>
              <a:rPr lang="en-US" dirty="0"/>
              <a:t>A majority of restaurants (over 4,200) </a:t>
            </a:r>
            <a:r>
              <a:rPr lang="en-US" b="1" dirty="0"/>
              <a:t>fall within the lowest price range</a:t>
            </a:r>
            <a:r>
              <a:rPr lang="en-US" dirty="0"/>
              <a:t>, indicating a </a:t>
            </a:r>
            <a:r>
              <a:rPr lang="en-US" b="1" dirty="0"/>
              <a:t>strong market presence in the affordable dining </a:t>
            </a:r>
            <a:r>
              <a:rPr lang="en-US" dirty="0"/>
              <a:t>segment.</a:t>
            </a:r>
          </a:p>
          <a:p>
            <a:pPr marL="285750" indent="-285750">
              <a:buFont typeface="Arial" panose="020B0604020202020204" pitchFamily="34" charset="0"/>
              <a:buChar char="•"/>
            </a:pPr>
            <a:r>
              <a:rPr lang="en-US" dirty="0"/>
              <a:t>The number of restaurants significantly decreases as prices rise, with only 388 restaurants in the highest range. This trend suggests that Zomato’s existing markets are </a:t>
            </a:r>
            <a:r>
              <a:rPr lang="en-US" b="1" dirty="0"/>
              <a:t>largely price-sensitive</a:t>
            </a:r>
            <a:r>
              <a:rPr lang="en-US" dirty="0"/>
              <a:t>, favoring budget and mid-range options. </a:t>
            </a:r>
          </a:p>
          <a:p>
            <a:pPr marL="285750" indent="-285750">
              <a:buFont typeface="Arial" panose="020B0604020202020204" pitchFamily="34" charset="0"/>
              <a:buChar char="•"/>
            </a:pPr>
            <a:r>
              <a:rPr lang="en-US" dirty="0"/>
              <a:t>The minimal representation in premium categories highlights a </a:t>
            </a:r>
            <a:r>
              <a:rPr lang="en-US" b="1" dirty="0"/>
              <a:t>potential opportunity </a:t>
            </a:r>
            <a:r>
              <a:rPr lang="en-US" dirty="0"/>
              <a:t>for Zomato to expand into </a:t>
            </a:r>
            <a:r>
              <a:rPr lang="en-US" b="1" dirty="0"/>
              <a:t>higher-end dining segments where competition is currently lower</a:t>
            </a:r>
            <a:r>
              <a:rPr lang="en-US" dirty="0"/>
              <a:t>.</a:t>
            </a:r>
            <a:endParaRPr lang="en-IN" dirty="0"/>
          </a:p>
        </p:txBody>
      </p:sp>
    </p:spTree>
    <p:extLst>
      <p:ext uri="{BB962C8B-B14F-4D97-AF65-F5344CB8AC3E}">
        <p14:creationId xmlns:p14="http://schemas.microsoft.com/office/powerpoint/2010/main" val="3728125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9E6C3E-109C-C9DB-765C-9A716B225926}"/>
              </a:ext>
            </a:extLst>
          </p:cNvPr>
          <p:cNvSpPr txBox="1"/>
          <p:nvPr/>
        </p:nvSpPr>
        <p:spPr>
          <a:xfrm>
            <a:off x="73152" y="490383"/>
            <a:ext cx="6281928" cy="461665"/>
          </a:xfrm>
          <a:prstGeom prst="rect">
            <a:avLst/>
          </a:prstGeom>
          <a:noFill/>
        </p:spPr>
        <p:txBody>
          <a:bodyPr wrap="square">
            <a:spAutoFit/>
          </a:bodyPr>
          <a:lstStyle/>
          <a:p>
            <a:r>
              <a:rPr lang="en-IN" sz="2400" b="1" dirty="0">
                <a:solidFill>
                  <a:srgbClr val="FF0000"/>
                </a:solidFill>
              </a:rPr>
              <a:t>Recommended Countries for Expansion</a:t>
            </a:r>
          </a:p>
        </p:txBody>
      </p:sp>
      <p:sp>
        <p:nvSpPr>
          <p:cNvPr id="5" name="TextBox 4">
            <a:extLst>
              <a:ext uri="{FF2B5EF4-FFF2-40B4-BE49-F238E27FC236}">
                <a16:creationId xmlns:a16="http://schemas.microsoft.com/office/drawing/2014/main" id="{2401C4CF-0D6A-EDEB-C861-D8EE3B360008}"/>
              </a:ext>
            </a:extLst>
          </p:cNvPr>
          <p:cNvSpPr txBox="1"/>
          <p:nvPr/>
        </p:nvSpPr>
        <p:spPr>
          <a:xfrm>
            <a:off x="292608" y="1289304"/>
            <a:ext cx="5696712" cy="5078313"/>
          </a:xfrm>
          <a:prstGeom prst="rect">
            <a:avLst/>
          </a:prstGeom>
          <a:noFill/>
        </p:spPr>
        <p:txBody>
          <a:bodyPr wrap="square" rtlCol="0">
            <a:spAutoFit/>
          </a:bodyPr>
          <a:lstStyle/>
          <a:p>
            <a:pPr marL="285750" lvl="0" indent="-285750">
              <a:buFont typeface="Arial" panose="020B0604020202020204" pitchFamily="34" charset="0"/>
              <a:buChar char="•"/>
            </a:pPr>
            <a:r>
              <a:rPr lang="en-IN" dirty="0">
                <a:highlight>
                  <a:srgbClr val="00FFFF"/>
                </a:highlight>
              </a:rPr>
              <a:t>Brazil</a:t>
            </a:r>
            <a:r>
              <a:rPr lang="en-IN" dirty="0"/>
              <a:t> (</a:t>
            </a:r>
            <a:r>
              <a:rPr lang="en-IN" dirty="0" err="1"/>
              <a:t>Avg</a:t>
            </a:r>
            <a:r>
              <a:rPr lang="en-IN" dirty="0"/>
              <a:t> Rating 3.8, Price 3.4, Cost ₹2,182) → </a:t>
            </a:r>
            <a:r>
              <a:rPr lang="en-IN" b="1" dirty="0"/>
              <a:t>High rating with moderate cost</a:t>
            </a:r>
            <a:r>
              <a:rPr lang="en-IN" dirty="0"/>
              <a:t>; low booking/delivery penetration → </a:t>
            </a:r>
            <a:r>
              <a:rPr lang="en-IN" b="1" dirty="0"/>
              <a:t>under-served</a:t>
            </a:r>
            <a:r>
              <a:rPr lang="en-IN" dirty="0"/>
              <a:t>.</a:t>
            </a:r>
          </a:p>
          <a:p>
            <a:pPr marL="285750" lvl="0" indent="-285750">
              <a:buFont typeface="Arial" panose="020B0604020202020204" pitchFamily="34" charset="0"/>
              <a:buChar char="•"/>
            </a:pPr>
            <a:r>
              <a:rPr lang="en-IN" dirty="0">
                <a:highlight>
                  <a:srgbClr val="00FFFF"/>
                </a:highlight>
              </a:rPr>
              <a:t>Canada</a:t>
            </a:r>
            <a:r>
              <a:rPr lang="en-IN" dirty="0"/>
              <a:t> (3.6 rating, ₹2,240) → Fewer restaurants, decent affordability, </a:t>
            </a:r>
            <a:r>
              <a:rPr lang="en-IN" b="1" dirty="0"/>
              <a:t>zero online/table booking</a:t>
            </a:r>
            <a:r>
              <a:rPr lang="en-IN" dirty="0"/>
              <a:t> → good new-entry potential.</a:t>
            </a:r>
          </a:p>
          <a:p>
            <a:pPr marL="285750" lvl="0" indent="-285750">
              <a:buFont typeface="Arial" panose="020B0604020202020204" pitchFamily="34" charset="0"/>
              <a:buChar char="•"/>
            </a:pPr>
            <a:r>
              <a:rPr lang="en-IN" dirty="0">
                <a:highlight>
                  <a:srgbClr val="00FFFF"/>
                </a:highlight>
              </a:rPr>
              <a:t>Australia</a:t>
            </a:r>
            <a:r>
              <a:rPr lang="en-IN" dirty="0"/>
              <a:t> (3.7 rating, ₹1,313) → Moderate rating, low competition, affordable cost,</a:t>
            </a:r>
            <a:r>
              <a:rPr lang="en-IN" b="1" dirty="0"/>
              <a:t> zero online/table booking</a:t>
            </a:r>
            <a:r>
              <a:rPr lang="en-IN" dirty="0"/>
              <a:t> → good new-entry potential.</a:t>
            </a:r>
          </a:p>
          <a:p>
            <a:pPr marL="285750" lvl="0" indent="-285750">
              <a:buFont typeface="Arial" panose="020B0604020202020204" pitchFamily="34" charset="0"/>
              <a:buChar char="•"/>
            </a:pPr>
            <a:r>
              <a:rPr lang="en-IN" dirty="0">
                <a:highlight>
                  <a:srgbClr val="00FFFF"/>
                </a:highlight>
              </a:rPr>
              <a:t>Singapore</a:t>
            </a:r>
            <a:r>
              <a:rPr lang="en-IN" dirty="0"/>
              <a:t> (3.6 rating, ₹9,641) → High cost but consistently good rating; niche premium opportunity, </a:t>
            </a:r>
            <a:r>
              <a:rPr lang="en-IN" b="1" dirty="0"/>
              <a:t>same delivery conditions as others</a:t>
            </a:r>
            <a:r>
              <a:rPr lang="en-IN" dirty="0"/>
              <a:t>.</a:t>
            </a:r>
          </a:p>
          <a:p>
            <a:pPr marL="285750" lvl="0" indent="-285750">
              <a:buFont typeface="Arial" panose="020B0604020202020204" pitchFamily="34" charset="0"/>
              <a:buChar char="•"/>
            </a:pPr>
            <a:r>
              <a:rPr lang="en-IN" dirty="0"/>
              <a:t>Countries like India and Philippines already have higher % online delivery or table booking, implying mature/competitive markets.</a:t>
            </a:r>
          </a:p>
          <a:p>
            <a:endParaRPr lang="en-IN" dirty="0"/>
          </a:p>
        </p:txBody>
      </p:sp>
      <p:pic>
        <p:nvPicPr>
          <p:cNvPr id="8" name="Picture 7">
            <a:extLst>
              <a:ext uri="{FF2B5EF4-FFF2-40B4-BE49-F238E27FC236}">
                <a16:creationId xmlns:a16="http://schemas.microsoft.com/office/drawing/2014/main" id="{6E465000-0376-2BC7-40E9-BA153863EF44}"/>
              </a:ext>
            </a:extLst>
          </p:cNvPr>
          <p:cNvPicPr>
            <a:picLocks noChangeAspect="1"/>
          </p:cNvPicPr>
          <p:nvPr/>
        </p:nvPicPr>
        <p:blipFill>
          <a:blip r:embed="rId2"/>
          <a:stretch>
            <a:fillRect/>
          </a:stretch>
        </p:blipFill>
        <p:spPr>
          <a:xfrm>
            <a:off x="6096000" y="1138988"/>
            <a:ext cx="5914430" cy="489033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4340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C051840-AAC7-8CA2-6953-BB4C9CB4CAD4}"/>
              </a:ext>
            </a:extLst>
          </p:cNvPr>
          <p:cNvSpPr txBox="1"/>
          <p:nvPr/>
        </p:nvSpPr>
        <p:spPr>
          <a:xfrm>
            <a:off x="151912" y="2301690"/>
            <a:ext cx="4859000" cy="1815882"/>
          </a:xfrm>
          <a:prstGeom prst="rect">
            <a:avLst/>
          </a:prstGeom>
          <a:noFill/>
        </p:spPr>
        <p:txBody>
          <a:bodyPr wrap="square">
            <a:spAutoFit/>
          </a:bodyPr>
          <a:lstStyle/>
          <a:p>
            <a:pPr marL="285750" indent="-285750">
              <a:buFont typeface="Arial" panose="020B0604020202020204" pitchFamily="34" charset="0"/>
              <a:buChar char="•"/>
            </a:pPr>
            <a:r>
              <a:rPr lang="en-US" sz="1600" dirty="0"/>
              <a:t>A high-spending market (₹2200 average cost-for-two) with strong ratings (≈3.8) and limited online or booking availability.</a:t>
            </a:r>
            <a:br>
              <a:rPr lang="en-US" sz="1600" dirty="0"/>
            </a:br>
            <a:r>
              <a:rPr lang="en-US" sz="1600" dirty="0"/>
              <a:t>Cities such as </a:t>
            </a:r>
            <a:r>
              <a:rPr lang="en-US" sz="1600" b="1" dirty="0"/>
              <a:t>São Paulo</a:t>
            </a:r>
            <a:r>
              <a:rPr lang="en-US" sz="1600" dirty="0"/>
              <a:t> and </a:t>
            </a:r>
            <a:r>
              <a:rPr lang="en-US" sz="1600" b="1" dirty="0"/>
              <a:t>Rio de Janeiro</a:t>
            </a:r>
            <a:r>
              <a:rPr lang="en-US" sz="1600" dirty="0"/>
              <a:t> show concentrated demand for premium dining, while </a:t>
            </a:r>
            <a:r>
              <a:rPr lang="en-US" sz="1600" b="1" dirty="0"/>
              <a:t>Brasília</a:t>
            </a:r>
            <a:r>
              <a:rPr lang="en-US" sz="1600" dirty="0"/>
              <a:t> provides scope for upscale yet accessible restaurant models.</a:t>
            </a:r>
            <a:endParaRPr lang="en-IN" sz="1600" dirty="0"/>
          </a:p>
        </p:txBody>
      </p:sp>
      <p:pic>
        <p:nvPicPr>
          <p:cNvPr id="9" name="Picture 8">
            <a:extLst>
              <a:ext uri="{FF2B5EF4-FFF2-40B4-BE49-F238E27FC236}">
                <a16:creationId xmlns:a16="http://schemas.microsoft.com/office/drawing/2014/main" id="{0CF8E51B-A636-A0F2-87B5-520385BDB51C}"/>
              </a:ext>
            </a:extLst>
          </p:cNvPr>
          <p:cNvPicPr>
            <a:picLocks noChangeAspect="1"/>
          </p:cNvPicPr>
          <p:nvPr/>
        </p:nvPicPr>
        <p:blipFill>
          <a:blip r:embed="rId2"/>
          <a:stretch>
            <a:fillRect/>
          </a:stretch>
        </p:blipFill>
        <p:spPr>
          <a:xfrm>
            <a:off x="5772149" y="1360767"/>
            <a:ext cx="6267939" cy="3867690"/>
          </a:xfrm>
          <a:prstGeom prst="rect">
            <a:avLst/>
          </a:prstGeom>
          <a:ln w="228600" cap="sq" cmpd="thickThin">
            <a:solidFill>
              <a:srgbClr val="000000"/>
            </a:solidFill>
            <a:prstDash val="solid"/>
            <a:miter lim="800000"/>
          </a:ln>
          <a:effectLst>
            <a:innerShdw blurRad="76200">
              <a:srgbClr val="000000"/>
            </a:innerShdw>
          </a:effectLst>
        </p:spPr>
      </p:pic>
      <p:sp>
        <p:nvSpPr>
          <p:cNvPr id="11" name="TextBox 10">
            <a:extLst>
              <a:ext uri="{FF2B5EF4-FFF2-40B4-BE49-F238E27FC236}">
                <a16:creationId xmlns:a16="http://schemas.microsoft.com/office/drawing/2014/main" id="{5E67A8F7-B45C-1ACF-BB63-1444B46F2D0E}"/>
              </a:ext>
            </a:extLst>
          </p:cNvPr>
          <p:cNvSpPr txBox="1"/>
          <p:nvPr/>
        </p:nvSpPr>
        <p:spPr>
          <a:xfrm>
            <a:off x="455432" y="1840025"/>
            <a:ext cx="4251960" cy="461665"/>
          </a:xfrm>
          <a:prstGeom prst="rect">
            <a:avLst/>
          </a:prstGeom>
          <a:noFill/>
        </p:spPr>
        <p:txBody>
          <a:bodyPr wrap="square" rtlCol="0">
            <a:spAutoFit/>
          </a:bodyPr>
          <a:lstStyle/>
          <a:p>
            <a:r>
              <a:rPr lang="en-US" sz="2400" b="1" dirty="0"/>
              <a:t>Brazil</a:t>
            </a:r>
            <a:endParaRPr lang="en-IN" sz="2400" b="1" dirty="0"/>
          </a:p>
        </p:txBody>
      </p:sp>
    </p:spTree>
    <p:extLst>
      <p:ext uri="{BB962C8B-B14F-4D97-AF65-F5344CB8AC3E}">
        <p14:creationId xmlns:p14="http://schemas.microsoft.com/office/powerpoint/2010/main" val="789972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B6D546-1B3A-6670-3463-49090769BD32}"/>
              </a:ext>
            </a:extLst>
          </p:cNvPr>
          <p:cNvPicPr>
            <a:picLocks noChangeAspect="1"/>
          </p:cNvPicPr>
          <p:nvPr/>
        </p:nvPicPr>
        <p:blipFill>
          <a:blip r:embed="rId2"/>
          <a:stretch>
            <a:fillRect/>
          </a:stretch>
        </p:blipFill>
        <p:spPr>
          <a:xfrm>
            <a:off x="5686425" y="1414192"/>
            <a:ext cx="6296515" cy="3805508"/>
          </a:xfrm>
          <a:prstGeom prst="rect">
            <a:avLst/>
          </a:prstGeom>
          <a:ln w="228600" cap="sq" cmpd="thickThin">
            <a:solidFill>
              <a:srgbClr val="000000"/>
            </a:solidFill>
            <a:prstDash val="solid"/>
            <a:miter lim="800000"/>
          </a:ln>
          <a:effectLst>
            <a:innerShdw blurRad="76200">
              <a:srgbClr val="000000"/>
            </a:innerShdw>
          </a:effectLst>
        </p:spPr>
      </p:pic>
      <p:sp>
        <p:nvSpPr>
          <p:cNvPr id="8" name="TextBox 7">
            <a:extLst>
              <a:ext uri="{FF2B5EF4-FFF2-40B4-BE49-F238E27FC236}">
                <a16:creationId xmlns:a16="http://schemas.microsoft.com/office/drawing/2014/main" id="{8E7D5352-D257-738C-AB1E-007176085B88}"/>
              </a:ext>
            </a:extLst>
          </p:cNvPr>
          <p:cNvSpPr txBox="1"/>
          <p:nvPr/>
        </p:nvSpPr>
        <p:spPr>
          <a:xfrm>
            <a:off x="209060" y="2755244"/>
            <a:ext cx="4398264" cy="1768369"/>
          </a:xfrm>
          <a:prstGeom prst="rect">
            <a:avLst/>
          </a:prstGeom>
          <a:noFill/>
        </p:spPr>
        <p:txBody>
          <a:bodyPr wrap="square">
            <a:spAutoFit/>
          </a:bodyPr>
          <a:lstStyle/>
          <a:p>
            <a:pPr marL="285750" lvl="1" indent="-285750">
              <a:lnSpc>
                <a:spcPct val="115000"/>
              </a:lnSpc>
              <a:buSzPts val="1000"/>
              <a:buFont typeface="Arial" panose="020B0604020202020204" pitchFamily="34" charset="0"/>
              <a:buChar char="•"/>
              <a:tabLst>
                <a:tab pos="914400" algn="l"/>
              </a:tabLst>
            </a:pPr>
            <a:r>
              <a:rPr lang="en-US" sz="1600" dirty="0"/>
              <a:t>Vineland Station and Consort stand out with high customer ratings (≈4.0) and low restaurant density. These regions are characterized by smaller, affluent communities that value quality dining experiences over volume-driven outlets.</a:t>
            </a:r>
            <a:endParaRPr lang="en-IN" sz="1600" dirty="0"/>
          </a:p>
        </p:txBody>
      </p:sp>
      <p:sp>
        <p:nvSpPr>
          <p:cNvPr id="7" name="TextBox 6">
            <a:extLst>
              <a:ext uri="{FF2B5EF4-FFF2-40B4-BE49-F238E27FC236}">
                <a16:creationId xmlns:a16="http://schemas.microsoft.com/office/drawing/2014/main" id="{D06A914B-47BB-26EC-7606-73F0A289CE06}"/>
              </a:ext>
            </a:extLst>
          </p:cNvPr>
          <p:cNvSpPr txBox="1"/>
          <p:nvPr/>
        </p:nvSpPr>
        <p:spPr>
          <a:xfrm>
            <a:off x="466344" y="2293579"/>
            <a:ext cx="2935224" cy="461665"/>
          </a:xfrm>
          <a:prstGeom prst="rect">
            <a:avLst/>
          </a:prstGeom>
          <a:noFill/>
        </p:spPr>
        <p:txBody>
          <a:bodyPr wrap="square" rtlCol="0">
            <a:spAutoFit/>
          </a:bodyPr>
          <a:lstStyle/>
          <a:p>
            <a:r>
              <a:rPr lang="en-US" sz="2400" b="1" dirty="0"/>
              <a:t>Canada</a:t>
            </a:r>
            <a:endParaRPr lang="en-IN" sz="2400" b="1" dirty="0"/>
          </a:p>
        </p:txBody>
      </p:sp>
    </p:spTree>
    <p:extLst>
      <p:ext uri="{BB962C8B-B14F-4D97-AF65-F5344CB8AC3E}">
        <p14:creationId xmlns:p14="http://schemas.microsoft.com/office/powerpoint/2010/main" val="1087291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144A25-0FEE-29D7-61D9-479557FB6268}"/>
              </a:ext>
            </a:extLst>
          </p:cNvPr>
          <p:cNvPicPr>
            <a:picLocks noChangeAspect="1"/>
          </p:cNvPicPr>
          <p:nvPr/>
        </p:nvPicPr>
        <p:blipFill>
          <a:blip r:embed="rId2"/>
          <a:stretch>
            <a:fillRect/>
          </a:stretch>
        </p:blipFill>
        <p:spPr>
          <a:xfrm>
            <a:off x="5972174" y="1471339"/>
            <a:ext cx="5963139" cy="3915321"/>
          </a:xfrm>
          <a:prstGeom prst="rect">
            <a:avLst/>
          </a:prstGeom>
          <a:ln w="228600" cap="sq" cmpd="thickThin">
            <a:solidFill>
              <a:srgbClr val="000000"/>
            </a:solidFill>
            <a:prstDash val="solid"/>
            <a:miter lim="800000"/>
          </a:ln>
          <a:effectLst>
            <a:innerShdw blurRad="76200">
              <a:srgbClr val="000000"/>
            </a:innerShdw>
          </a:effectLst>
        </p:spPr>
      </p:pic>
      <p:sp>
        <p:nvSpPr>
          <p:cNvPr id="5" name="TextBox 4">
            <a:extLst>
              <a:ext uri="{FF2B5EF4-FFF2-40B4-BE49-F238E27FC236}">
                <a16:creationId xmlns:a16="http://schemas.microsoft.com/office/drawing/2014/main" id="{DFAD1352-8544-84DF-45D3-D4280E8F9E8E}"/>
              </a:ext>
            </a:extLst>
          </p:cNvPr>
          <p:cNvSpPr txBox="1"/>
          <p:nvPr/>
        </p:nvSpPr>
        <p:spPr>
          <a:xfrm>
            <a:off x="377190" y="2716428"/>
            <a:ext cx="5090922" cy="1569660"/>
          </a:xfrm>
          <a:prstGeom prst="rect">
            <a:avLst/>
          </a:prstGeom>
          <a:noFill/>
        </p:spPr>
        <p:txBody>
          <a:bodyPr wrap="square">
            <a:spAutoFit/>
          </a:bodyPr>
          <a:lstStyle/>
          <a:p>
            <a:r>
              <a:rPr lang="en-US" sz="1600" dirty="0"/>
              <a:t>The market exhibits very high expenditure levels (₹1,92,819 average cost-for-two) with consistent ratings (~3.8–4.0).</a:t>
            </a:r>
            <a:br>
              <a:rPr lang="en-US" sz="1600" dirty="0"/>
            </a:br>
            <a:r>
              <a:rPr lang="en-US" sz="1600" dirty="0"/>
              <a:t>Areas like Downtown Core, Marina Centre, and Bukit Timah serve as viable choices for flagship fine-dining ventures and experiential culinary brands.</a:t>
            </a:r>
            <a:endParaRPr lang="en-IN" sz="1600" dirty="0"/>
          </a:p>
        </p:txBody>
      </p:sp>
      <p:sp>
        <p:nvSpPr>
          <p:cNvPr id="6" name="TextBox 5">
            <a:extLst>
              <a:ext uri="{FF2B5EF4-FFF2-40B4-BE49-F238E27FC236}">
                <a16:creationId xmlns:a16="http://schemas.microsoft.com/office/drawing/2014/main" id="{CDDD0C89-0DC3-EDA7-7555-24C3A9328487}"/>
              </a:ext>
            </a:extLst>
          </p:cNvPr>
          <p:cNvSpPr txBox="1"/>
          <p:nvPr/>
        </p:nvSpPr>
        <p:spPr>
          <a:xfrm>
            <a:off x="377190" y="2254763"/>
            <a:ext cx="4443984" cy="461665"/>
          </a:xfrm>
          <a:prstGeom prst="rect">
            <a:avLst/>
          </a:prstGeom>
          <a:noFill/>
        </p:spPr>
        <p:txBody>
          <a:bodyPr wrap="square" rtlCol="0">
            <a:spAutoFit/>
          </a:bodyPr>
          <a:lstStyle/>
          <a:p>
            <a:r>
              <a:rPr lang="en-US" sz="2400" b="1" dirty="0"/>
              <a:t>Singapore</a:t>
            </a:r>
            <a:endParaRPr lang="en-IN" sz="2400" b="1" dirty="0"/>
          </a:p>
        </p:txBody>
      </p:sp>
    </p:spTree>
    <p:extLst>
      <p:ext uri="{BB962C8B-B14F-4D97-AF65-F5344CB8AC3E}">
        <p14:creationId xmlns:p14="http://schemas.microsoft.com/office/powerpoint/2010/main" val="826712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CC0CDB-2EEE-BC76-1875-A7744D817DD6}"/>
              </a:ext>
            </a:extLst>
          </p:cNvPr>
          <p:cNvPicPr>
            <a:picLocks noChangeAspect="1"/>
          </p:cNvPicPr>
          <p:nvPr/>
        </p:nvPicPr>
        <p:blipFill>
          <a:blip r:embed="rId2"/>
          <a:stretch>
            <a:fillRect/>
          </a:stretch>
        </p:blipFill>
        <p:spPr>
          <a:xfrm>
            <a:off x="5734049" y="1523734"/>
            <a:ext cx="6277463" cy="3810532"/>
          </a:xfrm>
          <a:prstGeom prst="rect">
            <a:avLst/>
          </a:prstGeom>
          <a:ln w="228600" cap="sq" cmpd="thickThin">
            <a:solidFill>
              <a:srgbClr val="000000"/>
            </a:solidFill>
            <a:prstDash val="solid"/>
            <a:miter lim="800000"/>
          </a:ln>
          <a:effectLst>
            <a:innerShdw blurRad="76200">
              <a:srgbClr val="000000"/>
            </a:innerShdw>
          </a:effectLst>
        </p:spPr>
      </p:pic>
      <p:sp>
        <p:nvSpPr>
          <p:cNvPr id="10" name="TextBox 9">
            <a:extLst>
              <a:ext uri="{FF2B5EF4-FFF2-40B4-BE49-F238E27FC236}">
                <a16:creationId xmlns:a16="http://schemas.microsoft.com/office/drawing/2014/main" id="{A4A5DA6C-7F24-5542-E8E6-764AF764F50F}"/>
              </a:ext>
            </a:extLst>
          </p:cNvPr>
          <p:cNvSpPr txBox="1"/>
          <p:nvPr/>
        </p:nvSpPr>
        <p:spPr>
          <a:xfrm>
            <a:off x="576073" y="2680443"/>
            <a:ext cx="4663439" cy="1768369"/>
          </a:xfrm>
          <a:prstGeom prst="rect">
            <a:avLst/>
          </a:prstGeom>
          <a:noFill/>
        </p:spPr>
        <p:txBody>
          <a:bodyPr wrap="square">
            <a:spAutoFit/>
          </a:bodyPr>
          <a:lstStyle/>
          <a:p>
            <a:pPr marL="285750" lvl="1" indent="-285750">
              <a:lnSpc>
                <a:spcPct val="115000"/>
              </a:lnSpc>
              <a:buSzPts val="1000"/>
              <a:buFont typeface="Arial" panose="020B0604020202020204" pitchFamily="34" charset="0"/>
              <a:buChar char="•"/>
              <a:tabLst>
                <a:tab pos="914400" algn="l"/>
              </a:tabLst>
            </a:pPr>
            <a:r>
              <a:rPr lang="en-US" sz="1600" dirty="0"/>
              <a:t>Cities such as Paynesville, Phillip Island, and Tanunda combine tourism-driven demand with high affordability and strong average ratings (3.8–4.2). They offer excellent entry points for premium casual or destination dining.</a:t>
            </a:r>
            <a:endParaRPr lang="en-IN" sz="1600" dirty="0"/>
          </a:p>
        </p:txBody>
      </p:sp>
      <p:sp>
        <p:nvSpPr>
          <p:cNvPr id="5" name="TextBox 4">
            <a:extLst>
              <a:ext uri="{FF2B5EF4-FFF2-40B4-BE49-F238E27FC236}">
                <a16:creationId xmlns:a16="http://schemas.microsoft.com/office/drawing/2014/main" id="{EB0641B7-3745-9E11-FFC0-EF8845141904}"/>
              </a:ext>
            </a:extLst>
          </p:cNvPr>
          <p:cNvSpPr txBox="1"/>
          <p:nvPr/>
        </p:nvSpPr>
        <p:spPr>
          <a:xfrm>
            <a:off x="832104" y="2218778"/>
            <a:ext cx="3822192" cy="461665"/>
          </a:xfrm>
          <a:prstGeom prst="rect">
            <a:avLst/>
          </a:prstGeom>
          <a:noFill/>
        </p:spPr>
        <p:txBody>
          <a:bodyPr wrap="square" rtlCol="0">
            <a:spAutoFit/>
          </a:bodyPr>
          <a:lstStyle/>
          <a:p>
            <a:r>
              <a:rPr lang="en-US" sz="2400" b="1" dirty="0"/>
              <a:t>Australia</a:t>
            </a:r>
            <a:endParaRPr lang="en-IN" sz="2400" b="1" dirty="0"/>
          </a:p>
        </p:txBody>
      </p:sp>
    </p:spTree>
    <p:extLst>
      <p:ext uri="{BB962C8B-B14F-4D97-AF65-F5344CB8AC3E}">
        <p14:creationId xmlns:p14="http://schemas.microsoft.com/office/powerpoint/2010/main" val="906510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1C98BA-12BF-8E4E-BCA1-7B1C488A3BC0}"/>
              </a:ext>
            </a:extLst>
          </p:cNvPr>
          <p:cNvSpPr>
            <a:spLocks noGrp="1"/>
          </p:cNvSpPr>
          <p:nvPr>
            <p:ph type="title"/>
          </p:nvPr>
        </p:nvSpPr>
        <p:spPr/>
        <p:txBody>
          <a:bodyPr vert="horz" lIns="91440" tIns="45720" rIns="91440" bIns="45720" rtlCol="0" anchor="b">
            <a:normAutofit/>
          </a:bodyPr>
          <a:lstStyle/>
          <a:p>
            <a:r>
              <a:rPr lang="en-US" sz="4800" kern="1200" dirty="0">
                <a:solidFill>
                  <a:schemeClr val="tx1"/>
                </a:solidFill>
                <a:latin typeface="+mj-lt"/>
                <a:ea typeface="+mj-ea"/>
                <a:cs typeface="+mj-cs"/>
              </a:rPr>
              <a:t>Strategy for pricing</a:t>
            </a:r>
          </a:p>
        </p:txBody>
      </p:sp>
      <p:sp>
        <p:nvSpPr>
          <p:cNvPr id="8" name="Content Placeholder 7">
            <a:extLst>
              <a:ext uri="{FF2B5EF4-FFF2-40B4-BE49-F238E27FC236}">
                <a16:creationId xmlns:a16="http://schemas.microsoft.com/office/drawing/2014/main" id="{B67389F0-C08B-5DCC-C935-5950A08D7BA6}"/>
              </a:ext>
            </a:extLst>
          </p:cNvPr>
          <p:cNvSpPr>
            <a:spLocks noGrp="1"/>
          </p:cNvSpPr>
          <p:nvPr>
            <p:ph idx="1"/>
          </p:nvPr>
        </p:nvSpPr>
        <p:spPr/>
        <p:txBody>
          <a:bodyPr vert="horz" lIns="91440" tIns="45720" rIns="91440" bIns="45720" rtlCol="0" anchor="ctr">
            <a:normAutofit/>
          </a:bodyPr>
          <a:lstStyle/>
          <a:p>
            <a:r>
              <a:rPr lang="en-US" sz="1100" dirty="0"/>
              <a:t>We should keep the rates of cuisine higher . Yes it does affect the ratings of the restaurant but not significantly. As it is shown by this correlation analysis.</a:t>
            </a:r>
          </a:p>
          <a:p>
            <a:r>
              <a:rPr lang="en-US" sz="1100" dirty="0"/>
              <a:t>The table shows a </a:t>
            </a:r>
            <a:r>
              <a:rPr lang="en-US" sz="1100" b="1" dirty="0"/>
              <a:t>correlation coefficient</a:t>
            </a:r>
            <a:r>
              <a:rPr lang="en-US" sz="1100" dirty="0"/>
              <a:t> of </a:t>
            </a:r>
            <a:r>
              <a:rPr lang="en-US" sz="1100" b="1" dirty="0"/>
              <a:t>0.344858101</a:t>
            </a:r>
            <a:r>
              <a:rPr lang="en-US" sz="1100" dirty="0"/>
              <a:t> between </a:t>
            </a:r>
            <a:r>
              <a:rPr lang="en-US" sz="1100" b="1" dirty="0"/>
              <a:t>Rating</a:t>
            </a:r>
            <a:r>
              <a:rPr lang="en-US" sz="1100" dirty="0"/>
              <a:t> and </a:t>
            </a:r>
            <a:r>
              <a:rPr lang="en-US" sz="1100" b="1" dirty="0"/>
              <a:t>Average-Cost-for-two (INR)</a:t>
            </a:r>
            <a:r>
              <a:rPr lang="en-US" sz="1100" dirty="0"/>
              <a:t>.</a:t>
            </a:r>
          </a:p>
          <a:p>
            <a:r>
              <a:rPr lang="en-US" sz="1100" b="1" dirty="0"/>
              <a:t>What Does This Mean?</a:t>
            </a:r>
            <a:endParaRPr lang="en-US" sz="1100" dirty="0"/>
          </a:p>
          <a:p>
            <a:r>
              <a:rPr lang="en-US" sz="1100" b="1" dirty="0"/>
              <a:t>Positive but Weak Correlation (0.34)</a:t>
            </a:r>
            <a:endParaRPr lang="en-US" sz="1100" dirty="0"/>
          </a:p>
          <a:p>
            <a:pPr lvl="1"/>
            <a:r>
              <a:rPr lang="en-US" sz="1100" dirty="0"/>
              <a:t>The correlation is </a:t>
            </a:r>
            <a:r>
              <a:rPr lang="en-US" sz="1100" b="1" dirty="0"/>
              <a:t>positive</a:t>
            </a:r>
            <a:r>
              <a:rPr lang="en-US" sz="1100" dirty="0"/>
              <a:t>, meaning that as the </a:t>
            </a:r>
            <a:r>
              <a:rPr lang="en-US" sz="1100" b="1" dirty="0"/>
              <a:t>cost for two increases</a:t>
            </a:r>
            <a:r>
              <a:rPr lang="en-US" sz="1100" dirty="0"/>
              <a:t>, the </a:t>
            </a:r>
            <a:r>
              <a:rPr lang="en-US" sz="1100" b="1" dirty="0"/>
              <a:t>rating tends to increase slightly</a:t>
            </a:r>
            <a:r>
              <a:rPr lang="en-US" sz="1100" dirty="0"/>
              <a:t>.</a:t>
            </a:r>
          </a:p>
          <a:p>
            <a:pPr lvl="1"/>
            <a:r>
              <a:rPr lang="en-US" sz="1100" dirty="0"/>
              <a:t>However, the value of </a:t>
            </a:r>
            <a:r>
              <a:rPr lang="en-US" sz="1100" b="1" dirty="0"/>
              <a:t>0.34</a:t>
            </a:r>
            <a:r>
              <a:rPr lang="en-US" sz="1100" dirty="0"/>
              <a:t> indicates a </a:t>
            </a:r>
            <a:r>
              <a:rPr lang="en-US" sz="1100" b="1" dirty="0"/>
              <a:t>weak to moderate relationship</a:t>
            </a:r>
            <a:r>
              <a:rPr lang="en-US" sz="1100" dirty="0"/>
              <a:t>, not a strong one.</a:t>
            </a:r>
          </a:p>
          <a:p>
            <a:pPr lvl="1"/>
            <a:r>
              <a:rPr lang="en-US" sz="1100" b="1" dirty="0"/>
              <a:t>Higher-priced restaurants tend to have slightly better ratings</a:t>
            </a:r>
            <a:r>
              <a:rPr lang="en-US" sz="1100" dirty="0"/>
              <a:t>, possibly due to better service, ambiance, or food quality.</a:t>
            </a:r>
          </a:p>
          <a:p>
            <a:pPr lvl="1"/>
            <a:r>
              <a:rPr lang="en-US" sz="1100" dirty="0"/>
              <a:t>However, the weak correlation suggests that </a:t>
            </a:r>
            <a:r>
              <a:rPr lang="en-US" sz="1100" b="1" dirty="0"/>
              <a:t>price alone is not a major driver of ratings</a:t>
            </a:r>
            <a:r>
              <a:rPr lang="en-US" sz="1100" dirty="0"/>
              <a:t>—other factors (cuisine, service, location) play a bigger role.</a:t>
            </a:r>
          </a:p>
          <a:p>
            <a:endParaRPr lang="en-US" sz="1100" dirty="0"/>
          </a:p>
          <a:p>
            <a:endParaRPr lang="en-US" sz="1100" dirty="0"/>
          </a:p>
        </p:txBody>
      </p:sp>
      <p:pic>
        <p:nvPicPr>
          <p:cNvPr id="14" name="Content Placeholder 13">
            <a:extLst>
              <a:ext uri="{FF2B5EF4-FFF2-40B4-BE49-F238E27FC236}">
                <a16:creationId xmlns:a16="http://schemas.microsoft.com/office/drawing/2014/main" id="{51E36D10-36F0-B6AF-3102-E12B52CF07CA}"/>
              </a:ext>
            </a:extLst>
          </p:cNvPr>
          <p:cNvPicPr>
            <a:picLocks noGrp="1" noChangeAspect="1"/>
          </p:cNvPicPr>
          <p:nvPr>
            <p:ph sz="half" idx="4294967295"/>
          </p:nvPr>
        </p:nvPicPr>
        <p:blipFill>
          <a:blip r:embed="rId2"/>
          <a:stretch>
            <a:fillRect/>
          </a:stretch>
        </p:blipFill>
        <p:spPr>
          <a:xfrm>
            <a:off x="0" y="2263775"/>
            <a:ext cx="5149850" cy="2628900"/>
          </a:xfrm>
          <a:prstGeom prst="rect">
            <a:avLst/>
          </a:prstGeom>
        </p:spPr>
      </p:pic>
      <p:sp>
        <p:nvSpPr>
          <p:cNvPr id="2" name="TextBox 1">
            <a:extLst>
              <a:ext uri="{FF2B5EF4-FFF2-40B4-BE49-F238E27FC236}">
                <a16:creationId xmlns:a16="http://schemas.microsoft.com/office/drawing/2014/main" id="{966DB265-7353-0036-C9B2-82E0858B88C1}"/>
              </a:ext>
            </a:extLst>
          </p:cNvPr>
          <p:cNvSpPr txBox="1"/>
          <p:nvPr/>
        </p:nvSpPr>
        <p:spPr>
          <a:xfrm>
            <a:off x="888631" y="1709928"/>
            <a:ext cx="3498979" cy="400110"/>
          </a:xfrm>
          <a:prstGeom prst="rect">
            <a:avLst/>
          </a:prstGeom>
          <a:noFill/>
        </p:spPr>
        <p:txBody>
          <a:bodyPr wrap="square" rtlCol="0">
            <a:spAutoFit/>
          </a:bodyPr>
          <a:lstStyle/>
          <a:p>
            <a:r>
              <a:rPr lang="en-IN" sz="2000" b="1" dirty="0"/>
              <a:t>Strategy for Pricing</a:t>
            </a:r>
          </a:p>
        </p:txBody>
      </p:sp>
    </p:spTree>
    <p:extLst>
      <p:ext uri="{BB962C8B-B14F-4D97-AF65-F5344CB8AC3E}">
        <p14:creationId xmlns:p14="http://schemas.microsoft.com/office/powerpoint/2010/main" val="70603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9BA3F-7ED8-E449-2C52-6E32B7215FFA}"/>
              </a:ext>
            </a:extLst>
          </p:cNvPr>
          <p:cNvSpPr>
            <a:spLocks noGrp="1"/>
          </p:cNvSpPr>
          <p:nvPr>
            <p:ph type="title" idx="4294967295"/>
          </p:nvPr>
        </p:nvSpPr>
        <p:spPr>
          <a:xfrm>
            <a:off x="0" y="1052513"/>
            <a:ext cx="5392738" cy="785812"/>
          </a:xfrm>
        </p:spPr>
        <p:txBody>
          <a:bodyPr>
            <a:normAutofit fontScale="90000"/>
          </a:bodyPr>
          <a:lstStyle/>
          <a:p>
            <a:r>
              <a:rPr lang="en-US" sz="4000" b="1" dirty="0">
                <a:solidFill>
                  <a:srgbClr val="FF0000"/>
                </a:solidFill>
                <a:highlight>
                  <a:srgbClr val="FFFF00"/>
                </a:highlight>
              </a:rPr>
              <a:t>Strategic Recommendations </a:t>
            </a:r>
            <a:endParaRPr lang="en-IN" sz="4000" b="1" dirty="0">
              <a:solidFill>
                <a:srgbClr val="FF0000"/>
              </a:solidFill>
              <a:highlight>
                <a:srgbClr val="FFFF00"/>
              </a:highlight>
            </a:endParaRPr>
          </a:p>
        </p:txBody>
      </p:sp>
      <p:sp>
        <p:nvSpPr>
          <p:cNvPr id="3" name="Content Placeholder 2">
            <a:extLst>
              <a:ext uri="{FF2B5EF4-FFF2-40B4-BE49-F238E27FC236}">
                <a16:creationId xmlns:a16="http://schemas.microsoft.com/office/drawing/2014/main" id="{772C74E7-5B7A-84DC-8071-A5CA04D28948}"/>
              </a:ext>
            </a:extLst>
          </p:cNvPr>
          <p:cNvSpPr>
            <a:spLocks noGrp="1"/>
          </p:cNvSpPr>
          <p:nvPr>
            <p:ph idx="4294967295"/>
          </p:nvPr>
        </p:nvSpPr>
        <p:spPr>
          <a:xfrm>
            <a:off x="0" y="1949450"/>
            <a:ext cx="5219700" cy="3692525"/>
          </a:xfrm>
        </p:spPr>
        <p:txBody>
          <a:bodyPr anchor="ctr">
            <a:normAutofit fontScale="70000" lnSpcReduction="20000"/>
          </a:bodyPr>
          <a:lstStyle/>
          <a:p>
            <a:pPr lvl="0"/>
            <a:r>
              <a:rPr lang="en-IN" b="1" dirty="0"/>
              <a:t>Customer Rating Impact:</a:t>
            </a:r>
            <a:br>
              <a:rPr lang="en-IN" dirty="0"/>
            </a:br>
            <a:r>
              <a:rPr lang="en-IN" dirty="0"/>
              <a:t>Restaurants </a:t>
            </a:r>
            <a:r>
              <a:rPr lang="en-IN" b="1" dirty="0"/>
              <a:t>with both online delivery and table booking</a:t>
            </a:r>
            <a:r>
              <a:rPr lang="en-IN" dirty="0"/>
              <a:t> show a notably higher average rating of </a:t>
            </a:r>
            <a:r>
              <a:rPr lang="en-IN" b="1" dirty="0"/>
              <a:t>3.60</a:t>
            </a:r>
            <a:r>
              <a:rPr lang="en-IN" dirty="0"/>
              <a:t>, compared to </a:t>
            </a:r>
            <a:r>
              <a:rPr lang="en-IN" b="1" dirty="0"/>
              <a:t>2.68</a:t>
            </a:r>
            <a:r>
              <a:rPr lang="en-IN" dirty="0"/>
              <a:t> for those without either feature.</a:t>
            </a:r>
            <a:br>
              <a:rPr lang="en-IN" dirty="0"/>
            </a:br>
            <a:r>
              <a:rPr lang="en-IN" dirty="0"/>
              <a:t>This 0.92-point increase indicates that accessibility and convenience directly enhance customer satisfaction and brand loyalty.</a:t>
            </a:r>
            <a:br>
              <a:rPr lang="en-IN" dirty="0"/>
            </a:br>
            <a:r>
              <a:rPr lang="en-IN" dirty="0"/>
              <a:t>Customers prefer establishments that offer flexibility </a:t>
            </a:r>
          </a:p>
          <a:p>
            <a:r>
              <a:rPr lang="en-IN" b="1" dirty="0"/>
              <a:t>Cost and Pricing </a:t>
            </a:r>
            <a:r>
              <a:rPr lang="en-IN" b="1" dirty="0" err="1"/>
              <a:t>Behavior</a:t>
            </a:r>
            <a:r>
              <a:rPr lang="en-IN" b="1" dirty="0"/>
              <a:t>:</a:t>
            </a:r>
            <a:br>
              <a:rPr lang="en-IN" dirty="0"/>
            </a:br>
            <a:r>
              <a:rPr lang="en-IN" dirty="0"/>
              <a:t>Outlets providing these services also show a significantly </a:t>
            </a:r>
            <a:r>
              <a:rPr lang="en-IN" b="1" dirty="0"/>
              <a:t>lower average cost-for-two (₹5,71,890)</a:t>
            </a:r>
            <a:r>
              <a:rPr lang="en-IN" dirty="0"/>
              <a:t> compared to </a:t>
            </a:r>
            <a:r>
              <a:rPr lang="en-IN" b="1" dirty="0"/>
              <a:t>₹46,43,054</a:t>
            </a:r>
            <a:r>
              <a:rPr lang="en-IN" dirty="0"/>
              <a:t> for those lacking both.</a:t>
            </a:r>
            <a:br>
              <a:rPr lang="en-IN" dirty="0"/>
            </a:br>
            <a:r>
              <a:rPr lang="en-IN" dirty="0"/>
              <a:t>This contrast reflects an operational pattern — restaurants offering online or booking facilities are typically </a:t>
            </a:r>
            <a:r>
              <a:rPr lang="en-IN" b="1" dirty="0"/>
              <a:t>mid-range to premium casual</a:t>
            </a:r>
            <a:r>
              <a:rPr lang="en-IN" dirty="0"/>
              <a:t>, while those without such features skew toward exclusive fine-dining with higher pricing and limited accessibility.</a:t>
            </a:r>
            <a:endParaRPr lang="en-IN" sz="1900" dirty="0"/>
          </a:p>
        </p:txBody>
      </p:sp>
      <p:pic>
        <p:nvPicPr>
          <p:cNvPr id="6" name="Picture 5">
            <a:extLst>
              <a:ext uri="{FF2B5EF4-FFF2-40B4-BE49-F238E27FC236}">
                <a16:creationId xmlns:a16="http://schemas.microsoft.com/office/drawing/2014/main" id="{7C2F869D-6624-B4FD-7153-42F4DCB8BF78}"/>
              </a:ext>
            </a:extLst>
          </p:cNvPr>
          <p:cNvPicPr>
            <a:picLocks noChangeAspect="1"/>
          </p:cNvPicPr>
          <p:nvPr/>
        </p:nvPicPr>
        <p:blipFill>
          <a:blip r:embed="rId2"/>
          <a:stretch>
            <a:fillRect/>
          </a:stretch>
        </p:blipFill>
        <p:spPr>
          <a:xfrm>
            <a:off x="5722501" y="1445377"/>
            <a:ext cx="5741970" cy="1007774"/>
          </a:xfrm>
          <a:prstGeom prst="rect">
            <a:avLst/>
          </a:prstGeom>
          <a:ln w="228600" cap="sq" cmpd="thickThin">
            <a:solidFill>
              <a:srgbClr val="000000"/>
            </a:solidFill>
            <a:prstDash val="solid"/>
            <a:miter lim="800000"/>
          </a:ln>
          <a:effectLst>
            <a:innerShdw blurRad="76200">
              <a:srgbClr val="000000"/>
            </a:innerShdw>
          </a:effectLst>
        </p:spPr>
      </p:pic>
      <p:pic>
        <p:nvPicPr>
          <p:cNvPr id="7" name="Picture 6" descr="A screenshot of a computer&#10;&#10;AI-generated content may be incorrect.">
            <a:extLst>
              <a:ext uri="{FF2B5EF4-FFF2-40B4-BE49-F238E27FC236}">
                <a16:creationId xmlns:a16="http://schemas.microsoft.com/office/drawing/2014/main" id="{FB68F7EC-1F99-ADD7-619C-5EFEF7DF7E22}"/>
              </a:ext>
            </a:extLst>
          </p:cNvPr>
          <p:cNvPicPr>
            <a:picLocks noChangeAspect="1"/>
          </p:cNvPicPr>
          <p:nvPr/>
        </p:nvPicPr>
        <p:blipFill>
          <a:blip r:embed="rId3"/>
          <a:stretch>
            <a:fillRect/>
          </a:stretch>
        </p:blipFill>
        <p:spPr>
          <a:xfrm>
            <a:off x="5722500" y="4145134"/>
            <a:ext cx="5821799" cy="99836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5418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FA122A-4730-236D-8C0A-B3F8BD132630}"/>
              </a:ext>
            </a:extLst>
          </p:cNvPr>
          <p:cNvPicPr>
            <a:picLocks noChangeAspect="1"/>
          </p:cNvPicPr>
          <p:nvPr/>
        </p:nvPicPr>
        <p:blipFill>
          <a:blip r:embed="rId2"/>
          <a:stretch>
            <a:fillRect/>
          </a:stretch>
        </p:blipFill>
        <p:spPr>
          <a:xfrm>
            <a:off x="118872" y="3527583"/>
            <a:ext cx="11841480" cy="3330416"/>
          </a:xfrm>
          <a:prstGeom prst="rect">
            <a:avLst/>
          </a:prstGeom>
          <a:ln w="228600" cap="sq" cmpd="thickThin">
            <a:solidFill>
              <a:srgbClr val="000000"/>
            </a:solidFill>
            <a:prstDash val="solid"/>
            <a:miter lim="800000"/>
          </a:ln>
          <a:effectLst>
            <a:innerShdw blurRad="76200">
              <a:srgbClr val="000000"/>
            </a:innerShdw>
          </a:effectLst>
        </p:spPr>
      </p:pic>
      <p:sp>
        <p:nvSpPr>
          <p:cNvPr id="5" name="TextBox 4">
            <a:extLst>
              <a:ext uri="{FF2B5EF4-FFF2-40B4-BE49-F238E27FC236}">
                <a16:creationId xmlns:a16="http://schemas.microsoft.com/office/drawing/2014/main" id="{5B0F4C57-B892-0D16-9E93-6E2188FAAA9D}"/>
              </a:ext>
            </a:extLst>
          </p:cNvPr>
          <p:cNvSpPr txBox="1"/>
          <p:nvPr/>
        </p:nvSpPr>
        <p:spPr>
          <a:xfrm>
            <a:off x="-109728" y="585216"/>
            <a:ext cx="6149340" cy="1976567"/>
          </a:xfrm>
          <a:prstGeom prst="rect">
            <a:avLst/>
          </a:prstGeom>
          <a:noFill/>
        </p:spPr>
        <p:txBody>
          <a:bodyPr wrap="square">
            <a:spAutoFit/>
          </a:bodyPr>
          <a:lstStyle/>
          <a:p>
            <a:pPr marL="342900" lvl="0" indent="-342900">
              <a:lnSpc>
                <a:spcPct val="115000"/>
              </a:lnSpc>
              <a:buSzPts val="1000"/>
              <a:buFont typeface="Symbol" panose="05050102010706020507" pitchFamily="18" charset="2"/>
              <a:buChar char=""/>
              <a:tabLst>
                <a:tab pos="457200" algn="l"/>
              </a:tabLst>
            </a:pPr>
            <a:r>
              <a:rPr lang="en-IN" sz="1800" b="1" dirty="0">
                <a:effectLst/>
                <a:latin typeface="Arial" panose="020B0604020202020204" pitchFamily="34" charset="0"/>
                <a:ea typeface="Arial" panose="020B0604020202020204" pitchFamily="34" charset="0"/>
              </a:rPr>
              <a:t>Overall Trend:</a:t>
            </a:r>
            <a:br>
              <a:rPr lang="en-IN" sz="1800" dirty="0">
                <a:effectLst/>
                <a:latin typeface="Arial" panose="020B0604020202020204" pitchFamily="34" charset="0"/>
                <a:ea typeface="Arial" panose="020B0604020202020204" pitchFamily="34" charset="0"/>
              </a:rPr>
            </a:br>
            <a:r>
              <a:rPr lang="en-IN" sz="1800" dirty="0">
                <a:effectLst/>
                <a:latin typeface="Arial" panose="020B0604020202020204" pitchFamily="34" charset="0"/>
                <a:ea typeface="Arial" panose="020B0604020202020204" pitchFamily="34" charset="0"/>
              </a:rPr>
              <a:t>The most popular cuisines globally are </a:t>
            </a:r>
            <a:r>
              <a:rPr lang="en-IN" sz="1800" b="1" dirty="0">
                <a:effectLst/>
                <a:latin typeface="Arial" panose="020B0604020202020204" pitchFamily="34" charset="0"/>
                <a:ea typeface="Arial" panose="020B0604020202020204" pitchFamily="34" charset="0"/>
              </a:rPr>
              <a:t>North Indian &amp; Mughlai (53,747 votes)</a:t>
            </a:r>
            <a:r>
              <a:rPr lang="en-IN" sz="1800" dirty="0">
                <a:effectLst/>
                <a:latin typeface="Arial" panose="020B0604020202020204" pitchFamily="34" charset="0"/>
                <a:ea typeface="Arial" panose="020B0604020202020204" pitchFamily="34" charset="0"/>
              </a:rPr>
              <a:t>, </a:t>
            </a:r>
            <a:r>
              <a:rPr lang="en-IN" sz="1800" b="1" dirty="0">
                <a:effectLst/>
                <a:latin typeface="Arial" panose="020B0604020202020204" pitchFamily="34" charset="0"/>
                <a:ea typeface="Arial" panose="020B0604020202020204" pitchFamily="34" charset="0"/>
              </a:rPr>
              <a:t>American (5,778 votes)</a:t>
            </a:r>
            <a:r>
              <a:rPr lang="en-IN" sz="1800" dirty="0">
                <a:effectLst/>
                <a:latin typeface="Arial" panose="020B0604020202020204" pitchFamily="34" charset="0"/>
                <a:ea typeface="Arial" panose="020B0604020202020204" pitchFamily="34" charset="0"/>
              </a:rPr>
              <a:t>, and </a:t>
            </a:r>
            <a:r>
              <a:rPr lang="en-IN" sz="1800" b="1" dirty="0">
                <a:effectLst/>
                <a:latin typeface="Arial" panose="020B0604020202020204" pitchFamily="34" charset="0"/>
                <a:ea typeface="Arial" panose="020B0604020202020204" pitchFamily="34" charset="0"/>
              </a:rPr>
              <a:t>Sunda–Indonesian (5,514 votes)</a:t>
            </a:r>
            <a:r>
              <a:rPr lang="en-IN" sz="1800" dirty="0">
                <a:effectLst/>
                <a:latin typeface="Arial" panose="020B0604020202020204" pitchFamily="34" charset="0"/>
                <a:ea typeface="Arial" panose="020B0604020202020204" pitchFamily="34" charset="0"/>
              </a:rPr>
              <a:t>. These cuisines attract the largest customer engagement, indicating broad appeal and familiarity among diverse audiences.</a:t>
            </a:r>
            <a:endParaRPr lang="en-IN" sz="1400" dirty="0">
              <a:effectLst/>
              <a:latin typeface="Arial" panose="020B0604020202020204" pitchFamily="34" charset="0"/>
              <a:ea typeface="Arial" panose="020B0604020202020204" pitchFamily="34" charset="0"/>
            </a:endParaRPr>
          </a:p>
        </p:txBody>
      </p:sp>
      <p:sp>
        <p:nvSpPr>
          <p:cNvPr id="7" name="TextBox 6">
            <a:extLst>
              <a:ext uri="{FF2B5EF4-FFF2-40B4-BE49-F238E27FC236}">
                <a16:creationId xmlns:a16="http://schemas.microsoft.com/office/drawing/2014/main" id="{3A931279-BD06-B1F2-C6DD-3A9C3A833AA4}"/>
              </a:ext>
            </a:extLst>
          </p:cNvPr>
          <p:cNvSpPr txBox="1"/>
          <p:nvPr/>
        </p:nvSpPr>
        <p:spPr>
          <a:xfrm>
            <a:off x="6039612" y="585216"/>
            <a:ext cx="6149340" cy="2613664"/>
          </a:xfrm>
          <a:prstGeom prst="rect">
            <a:avLst/>
          </a:prstGeom>
          <a:noFill/>
        </p:spPr>
        <p:txBody>
          <a:bodyPr wrap="square">
            <a:spAutoFit/>
          </a:bodyPr>
          <a:lstStyle/>
          <a:p>
            <a:pPr marL="342900" lvl="0" indent="-342900">
              <a:lnSpc>
                <a:spcPct val="115000"/>
              </a:lnSpc>
              <a:buSzPts val="1000"/>
              <a:buFont typeface="Symbol" panose="05050102010706020507" pitchFamily="18" charset="2"/>
              <a:buChar char=""/>
              <a:tabLst>
                <a:tab pos="457200" algn="l"/>
              </a:tabLst>
            </a:pPr>
            <a:r>
              <a:rPr lang="en-IN" sz="1800" b="1" dirty="0">
                <a:effectLst/>
                <a:latin typeface="Arial" panose="020B0604020202020204" pitchFamily="34" charset="0"/>
                <a:ea typeface="Arial" panose="020B0604020202020204" pitchFamily="34" charset="0"/>
              </a:rPr>
              <a:t>Correlation with Ratings:</a:t>
            </a:r>
            <a:br>
              <a:rPr lang="en-IN" sz="1800" dirty="0">
                <a:effectLst/>
                <a:latin typeface="Arial" panose="020B0604020202020204" pitchFamily="34" charset="0"/>
                <a:ea typeface="Arial" panose="020B0604020202020204" pitchFamily="34" charset="0"/>
              </a:rPr>
            </a:br>
            <a:r>
              <a:rPr lang="en-IN" sz="1800" dirty="0">
                <a:effectLst/>
                <a:latin typeface="Arial" panose="020B0604020202020204" pitchFamily="34" charset="0"/>
                <a:ea typeface="Arial" panose="020B0604020202020204" pitchFamily="34" charset="0"/>
              </a:rPr>
              <a:t>Cuisines with high engagement (Indian, American, Mediterranean, Italian) tend to maintain </a:t>
            </a:r>
            <a:r>
              <a:rPr lang="en-IN" sz="1800" i="1" dirty="0">
                <a:effectLst/>
                <a:latin typeface="Arial" panose="020B0604020202020204" pitchFamily="34" charset="0"/>
                <a:ea typeface="Arial" panose="020B0604020202020204" pitchFamily="34" charset="0"/>
              </a:rPr>
              <a:t>average-to-high ratings (3.5–4.2)</a:t>
            </a:r>
            <a:r>
              <a:rPr lang="en-IN" sz="1800" dirty="0">
                <a:effectLst/>
                <a:latin typeface="Arial" panose="020B0604020202020204" pitchFamily="34" charset="0"/>
                <a:ea typeface="Arial" panose="020B0604020202020204" pitchFamily="34" charset="0"/>
              </a:rPr>
              <a:t>.</a:t>
            </a:r>
            <a:br>
              <a:rPr lang="en-IN" sz="1800" dirty="0">
                <a:effectLst/>
                <a:latin typeface="Arial" panose="020B0604020202020204" pitchFamily="34" charset="0"/>
                <a:ea typeface="Arial" panose="020B0604020202020204" pitchFamily="34" charset="0"/>
              </a:rPr>
            </a:br>
            <a:r>
              <a:rPr lang="en-IN" sz="1800" dirty="0">
                <a:effectLst/>
                <a:latin typeface="Arial" panose="020B0604020202020204" pitchFamily="34" charset="0"/>
                <a:ea typeface="Arial" panose="020B0604020202020204" pitchFamily="34" charset="0"/>
              </a:rPr>
              <a:t>Less popular cuisines, while niche, often show higher per-restaurant ratings due to exclusivity and differentiated dining experiences — particularly in fine-dining markets like Singapore.</a:t>
            </a:r>
            <a:endParaRPr lang="en-IN" sz="1400" dirty="0">
              <a:effectLst/>
              <a:latin typeface="Arial" panose="020B0604020202020204" pitchFamily="34" charset="0"/>
              <a:ea typeface="Arial" panose="020B0604020202020204" pitchFamily="34" charset="0"/>
            </a:endParaRPr>
          </a:p>
        </p:txBody>
      </p:sp>
      <p:sp>
        <p:nvSpPr>
          <p:cNvPr id="8" name="TextBox 7">
            <a:extLst>
              <a:ext uri="{FF2B5EF4-FFF2-40B4-BE49-F238E27FC236}">
                <a16:creationId xmlns:a16="http://schemas.microsoft.com/office/drawing/2014/main" id="{EA442F11-275F-2B71-4666-FA162EFAF7B8}"/>
              </a:ext>
            </a:extLst>
          </p:cNvPr>
          <p:cNvSpPr txBox="1"/>
          <p:nvPr/>
        </p:nvSpPr>
        <p:spPr>
          <a:xfrm>
            <a:off x="237744" y="185106"/>
            <a:ext cx="5660136" cy="400110"/>
          </a:xfrm>
          <a:prstGeom prst="rect">
            <a:avLst/>
          </a:prstGeom>
          <a:noFill/>
        </p:spPr>
        <p:txBody>
          <a:bodyPr wrap="square" rtlCol="0">
            <a:spAutoFit/>
          </a:bodyPr>
          <a:lstStyle/>
          <a:p>
            <a:r>
              <a:rPr lang="en-IN" sz="2000" b="1" dirty="0">
                <a:solidFill>
                  <a:srgbClr val="FF0000"/>
                </a:solidFill>
                <a:highlight>
                  <a:srgbClr val="FFFF00"/>
                </a:highlight>
              </a:rPr>
              <a:t>Top Cuisines</a:t>
            </a:r>
          </a:p>
        </p:txBody>
      </p:sp>
    </p:spTree>
    <p:extLst>
      <p:ext uri="{BB962C8B-B14F-4D97-AF65-F5344CB8AC3E}">
        <p14:creationId xmlns:p14="http://schemas.microsoft.com/office/powerpoint/2010/main" val="2448752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Picture 2" descr="A screenshot of a green screen&#10;&#10;AI-generated content may be incorrect.">
            <a:extLst>
              <a:ext uri="{FF2B5EF4-FFF2-40B4-BE49-F238E27FC236}">
                <a16:creationId xmlns:a16="http://schemas.microsoft.com/office/drawing/2014/main" id="{979E2745-309E-CE08-B2C9-F07D7207F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2866"/>
            <a:ext cx="12192000" cy="6063149"/>
          </a:xfrm>
          <a:prstGeom prst="rect">
            <a:avLst/>
          </a:prstGeom>
        </p:spPr>
      </p:pic>
      <p:sp>
        <p:nvSpPr>
          <p:cNvPr id="4" name="TextBox 3">
            <a:extLst>
              <a:ext uri="{FF2B5EF4-FFF2-40B4-BE49-F238E27FC236}">
                <a16:creationId xmlns:a16="http://schemas.microsoft.com/office/drawing/2014/main" id="{C5FB6F8A-2823-FBB1-3CDC-CBCBA97CBAB5}"/>
              </a:ext>
            </a:extLst>
          </p:cNvPr>
          <p:cNvSpPr txBox="1"/>
          <p:nvPr/>
        </p:nvSpPr>
        <p:spPr>
          <a:xfrm>
            <a:off x="356616" y="413266"/>
            <a:ext cx="3639312" cy="400110"/>
          </a:xfrm>
          <a:prstGeom prst="rect">
            <a:avLst/>
          </a:prstGeom>
          <a:noFill/>
        </p:spPr>
        <p:txBody>
          <a:bodyPr wrap="square" rtlCol="0">
            <a:spAutoFit/>
          </a:bodyPr>
          <a:lstStyle/>
          <a:p>
            <a:r>
              <a:rPr lang="en-IN" sz="2000" b="1" dirty="0">
                <a:solidFill>
                  <a:srgbClr val="FF0000"/>
                </a:solidFill>
                <a:highlight>
                  <a:srgbClr val="FFFF00"/>
                </a:highlight>
              </a:rPr>
              <a:t>Dashboard :</a:t>
            </a:r>
          </a:p>
        </p:txBody>
      </p:sp>
    </p:spTree>
    <p:extLst>
      <p:ext uri="{BB962C8B-B14F-4D97-AF65-F5344CB8AC3E}">
        <p14:creationId xmlns:p14="http://schemas.microsoft.com/office/powerpoint/2010/main" val="1695200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F0D48F-91B3-AE44-9CD0-6B1D5C27AFFE}"/>
              </a:ext>
            </a:extLst>
          </p:cNvPr>
          <p:cNvSpPr txBox="1"/>
          <p:nvPr/>
        </p:nvSpPr>
        <p:spPr>
          <a:xfrm>
            <a:off x="1524" y="639402"/>
            <a:ext cx="6094476" cy="2585323"/>
          </a:xfrm>
          <a:prstGeom prst="rect">
            <a:avLst/>
          </a:prstGeom>
          <a:noFill/>
        </p:spPr>
        <p:txBody>
          <a:bodyPr wrap="square">
            <a:spAutoFit/>
          </a:bodyPr>
          <a:lstStyle/>
          <a:p>
            <a:pPr>
              <a:buNone/>
            </a:pPr>
            <a:r>
              <a:rPr lang="en-US" b="1" dirty="0">
                <a:highlight>
                  <a:srgbClr val="FFFF00"/>
                </a:highlight>
              </a:rPr>
              <a:t>Markets: Brazil, Canada, and Australia</a:t>
            </a:r>
          </a:p>
          <a:p>
            <a:pPr>
              <a:buNone/>
            </a:pPr>
            <a:endParaRPr lang="en-US" b="1" dirty="0">
              <a:highlight>
                <a:srgbClr val="FFFF00"/>
              </a:highlight>
            </a:endParaRPr>
          </a:p>
          <a:p>
            <a:pPr>
              <a:buFont typeface="Arial" panose="020B0604020202020204" pitchFamily="34" charset="0"/>
              <a:buChar char="•"/>
            </a:pPr>
            <a:r>
              <a:rPr lang="en-US" dirty="0"/>
              <a:t>These countries present strong growth potential with a favorable mix of high customer ratings, moderate operational costs, and limited competition.</a:t>
            </a:r>
          </a:p>
          <a:p>
            <a:endParaRPr lang="en-US" dirty="0"/>
          </a:p>
          <a:p>
            <a:pPr>
              <a:buFont typeface="Arial" panose="020B0604020202020204" pitchFamily="34" charset="0"/>
              <a:buChar char="•"/>
            </a:pPr>
            <a:r>
              <a:rPr lang="en-US" dirty="0"/>
              <a:t>Brazil and Canada offer emerging mid-premium dining opportunities, while Australia combines affordability with tourism-driven demand.</a:t>
            </a:r>
          </a:p>
        </p:txBody>
      </p:sp>
      <p:sp>
        <p:nvSpPr>
          <p:cNvPr id="5" name="TextBox 4">
            <a:extLst>
              <a:ext uri="{FF2B5EF4-FFF2-40B4-BE49-F238E27FC236}">
                <a16:creationId xmlns:a16="http://schemas.microsoft.com/office/drawing/2014/main" id="{6FC5A99D-BC3B-4172-F843-76F1B1EF0CC8}"/>
              </a:ext>
            </a:extLst>
          </p:cNvPr>
          <p:cNvSpPr txBox="1"/>
          <p:nvPr/>
        </p:nvSpPr>
        <p:spPr>
          <a:xfrm>
            <a:off x="6096000" y="639402"/>
            <a:ext cx="6117336" cy="1754326"/>
          </a:xfrm>
          <a:prstGeom prst="rect">
            <a:avLst/>
          </a:prstGeom>
          <a:noFill/>
        </p:spPr>
        <p:txBody>
          <a:bodyPr wrap="square">
            <a:spAutoFit/>
          </a:bodyPr>
          <a:lstStyle/>
          <a:p>
            <a:pPr>
              <a:buNone/>
            </a:pPr>
            <a:r>
              <a:rPr lang="en-US" b="1" dirty="0">
                <a:highlight>
                  <a:srgbClr val="FFFF00"/>
                </a:highlight>
              </a:rPr>
              <a:t>Premium Option: Singapore</a:t>
            </a:r>
          </a:p>
          <a:p>
            <a:pPr>
              <a:buFont typeface="Arial" panose="020B0604020202020204" pitchFamily="34" charset="0"/>
              <a:buChar char="•"/>
            </a:pPr>
            <a:r>
              <a:rPr lang="en-US" dirty="0"/>
              <a:t>Singapore represents a mature, high-income market suited for </a:t>
            </a:r>
            <a:r>
              <a:rPr lang="en-US" b="1" dirty="0"/>
              <a:t>premium or experiential dining</a:t>
            </a:r>
            <a:r>
              <a:rPr lang="en-US" dirty="0"/>
              <a:t> concepts.</a:t>
            </a:r>
          </a:p>
          <a:p>
            <a:endParaRPr lang="en-US" dirty="0"/>
          </a:p>
          <a:p>
            <a:pPr>
              <a:buFont typeface="Arial" panose="020B0604020202020204" pitchFamily="34" charset="0"/>
              <a:buChar char="•"/>
            </a:pPr>
            <a:r>
              <a:rPr lang="en-US" dirty="0"/>
              <a:t>Expansion here should emphasize brand prestige, exclusivity, and high-quality service standards.</a:t>
            </a:r>
          </a:p>
        </p:txBody>
      </p:sp>
      <p:sp>
        <p:nvSpPr>
          <p:cNvPr id="7" name="TextBox 6">
            <a:extLst>
              <a:ext uri="{FF2B5EF4-FFF2-40B4-BE49-F238E27FC236}">
                <a16:creationId xmlns:a16="http://schemas.microsoft.com/office/drawing/2014/main" id="{28A14919-6877-966C-9B0A-8EA217C09952}"/>
              </a:ext>
            </a:extLst>
          </p:cNvPr>
          <p:cNvSpPr txBox="1"/>
          <p:nvPr/>
        </p:nvSpPr>
        <p:spPr>
          <a:xfrm>
            <a:off x="0" y="3171611"/>
            <a:ext cx="6131052" cy="2585323"/>
          </a:xfrm>
          <a:prstGeom prst="rect">
            <a:avLst/>
          </a:prstGeom>
          <a:noFill/>
        </p:spPr>
        <p:txBody>
          <a:bodyPr wrap="square">
            <a:spAutoFit/>
          </a:bodyPr>
          <a:lstStyle/>
          <a:p>
            <a:pPr>
              <a:buNone/>
            </a:pPr>
            <a:r>
              <a:rPr lang="en-US" b="1" dirty="0">
                <a:highlight>
                  <a:srgbClr val="FFFF00"/>
                </a:highlight>
              </a:rPr>
              <a:t>Services: Online Delivery and Table Booking</a:t>
            </a:r>
          </a:p>
          <a:p>
            <a:pPr>
              <a:buNone/>
            </a:pPr>
            <a:endParaRPr lang="en-US" b="1" dirty="0">
              <a:highlight>
                <a:srgbClr val="FFFF00"/>
              </a:highlight>
            </a:endParaRPr>
          </a:p>
          <a:p>
            <a:pPr>
              <a:buFont typeface="Arial" panose="020B0604020202020204" pitchFamily="34" charset="0"/>
              <a:buChar char="•"/>
            </a:pPr>
            <a:r>
              <a:rPr lang="en-US" dirty="0"/>
              <a:t>Data indicates that restaurants offering both online delivery and booking options maintain </a:t>
            </a:r>
            <a:r>
              <a:rPr lang="en-US" b="1" dirty="0"/>
              <a:t>higher average ratings (3.6★ vs 2.7★)</a:t>
            </a:r>
            <a:r>
              <a:rPr lang="en-US" dirty="0"/>
              <a:t>.</a:t>
            </a:r>
          </a:p>
          <a:p>
            <a:endParaRPr lang="en-US" dirty="0"/>
          </a:p>
          <a:p>
            <a:pPr>
              <a:buFont typeface="Arial" panose="020B0604020202020204" pitchFamily="34" charset="0"/>
              <a:buChar char="•"/>
            </a:pPr>
            <a:r>
              <a:rPr lang="en-US" dirty="0"/>
              <a:t>Implementing both services across new locations will improve customer convenience, increase visibility, and strengthen Zomato’s digital ecosystem.</a:t>
            </a:r>
          </a:p>
        </p:txBody>
      </p:sp>
      <p:sp>
        <p:nvSpPr>
          <p:cNvPr id="9" name="TextBox 8">
            <a:extLst>
              <a:ext uri="{FF2B5EF4-FFF2-40B4-BE49-F238E27FC236}">
                <a16:creationId xmlns:a16="http://schemas.microsoft.com/office/drawing/2014/main" id="{5A4CDD5E-F0E2-425E-C883-0EADA041E0E8}"/>
              </a:ext>
            </a:extLst>
          </p:cNvPr>
          <p:cNvSpPr txBox="1"/>
          <p:nvPr/>
        </p:nvSpPr>
        <p:spPr>
          <a:xfrm>
            <a:off x="6060948" y="2756112"/>
            <a:ext cx="6131052" cy="3416320"/>
          </a:xfrm>
          <a:prstGeom prst="rect">
            <a:avLst/>
          </a:prstGeom>
          <a:noFill/>
        </p:spPr>
        <p:txBody>
          <a:bodyPr wrap="square">
            <a:spAutoFit/>
          </a:bodyPr>
          <a:lstStyle/>
          <a:p>
            <a:pPr>
              <a:buNone/>
            </a:pPr>
            <a:r>
              <a:rPr lang="en-US" b="1" dirty="0">
                <a:highlight>
                  <a:srgbClr val="FFFF00"/>
                </a:highlight>
              </a:rPr>
              <a:t>Cuisines: Mediterranean / Italian / Fusion</a:t>
            </a:r>
          </a:p>
          <a:p>
            <a:pPr>
              <a:buNone/>
            </a:pPr>
            <a:endParaRPr lang="en-US" b="1" dirty="0">
              <a:highlight>
                <a:srgbClr val="FFFF00"/>
              </a:highlight>
            </a:endParaRPr>
          </a:p>
          <a:p>
            <a:pPr>
              <a:buFont typeface="Arial" panose="020B0604020202020204" pitchFamily="34" charset="0"/>
              <a:buChar char="•"/>
            </a:pPr>
            <a:r>
              <a:rPr lang="en-US" dirty="0"/>
              <a:t>These cuisines are globally popular, versatile, and perform well in diverse markets such as Brazil, Canada, and Australia.</a:t>
            </a:r>
          </a:p>
          <a:p>
            <a:pPr>
              <a:buFont typeface="Arial" panose="020B0604020202020204" pitchFamily="34" charset="0"/>
              <a:buChar char="•"/>
            </a:pPr>
            <a:r>
              <a:rPr lang="en-US" dirty="0"/>
              <a:t>Incorporating local ingredients or regional twists can enhance customer acceptance and create a unique brand identity.</a:t>
            </a:r>
          </a:p>
          <a:p>
            <a:endParaRPr lang="en-US" dirty="0"/>
          </a:p>
          <a:p>
            <a:pPr>
              <a:buFont typeface="Arial" panose="020B0604020202020204" pitchFamily="34" charset="0"/>
              <a:buChar char="•"/>
            </a:pPr>
            <a:r>
              <a:rPr lang="en-US" dirty="0"/>
              <a:t>Fusion menus can help bridge traditional flavors with modern tastes, appealing to urban and experimental diners.</a:t>
            </a:r>
          </a:p>
        </p:txBody>
      </p:sp>
      <p:sp>
        <p:nvSpPr>
          <p:cNvPr id="10" name="TextBox 9">
            <a:extLst>
              <a:ext uri="{FF2B5EF4-FFF2-40B4-BE49-F238E27FC236}">
                <a16:creationId xmlns:a16="http://schemas.microsoft.com/office/drawing/2014/main" id="{B8A95113-4EDC-053C-3522-E038D01EFBB2}"/>
              </a:ext>
            </a:extLst>
          </p:cNvPr>
          <p:cNvSpPr txBox="1"/>
          <p:nvPr/>
        </p:nvSpPr>
        <p:spPr>
          <a:xfrm>
            <a:off x="0" y="119646"/>
            <a:ext cx="5733288" cy="400110"/>
          </a:xfrm>
          <a:prstGeom prst="rect">
            <a:avLst/>
          </a:prstGeom>
          <a:noFill/>
        </p:spPr>
        <p:txBody>
          <a:bodyPr wrap="square" rtlCol="0">
            <a:spAutoFit/>
          </a:bodyPr>
          <a:lstStyle/>
          <a:p>
            <a:r>
              <a:rPr lang="en-IN" sz="2000" b="1" dirty="0">
                <a:highlight>
                  <a:srgbClr val="00FFFF"/>
                </a:highlight>
              </a:rPr>
              <a:t>Recommendations</a:t>
            </a:r>
          </a:p>
        </p:txBody>
      </p:sp>
    </p:spTree>
    <p:extLst>
      <p:ext uri="{BB962C8B-B14F-4D97-AF65-F5344CB8AC3E}">
        <p14:creationId xmlns:p14="http://schemas.microsoft.com/office/powerpoint/2010/main" val="628407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ECCF89-5299-7B0F-9AF3-725C40D75FD2}"/>
              </a:ext>
            </a:extLst>
          </p:cNvPr>
          <p:cNvSpPr>
            <a:spLocks noGrp="1"/>
          </p:cNvSpPr>
          <p:nvPr>
            <p:ph type="title"/>
          </p:nvPr>
        </p:nvSpPr>
        <p:spPr>
          <a:xfrm>
            <a:off x="1137034" y="609600"/>
            <a:ext cx="4784796" cy="1330840"/>
          </a:xfrm>
        </p:spPr>
        <p:txBody>
          <a:bodyPr>
            <a:normAutofit/>
          </a:bodyPr>
          <a:lstStyle/>
          <a:p>
            <a:r>
              <a:rPr lang="en-US" b="1" dirty="0"/>
              <a:t>Conclusion</a:t>
            </a:r>
            <a:endParaRPr lang="en-IN" b="1" dirty="0"/>
          </a:p>
        </p:txBody>
      </p:sp>
      <p:sp>
        <p:nvSpPr>
          <p:cNvPr id="4" name="Content Placeholder 3">
            <a:extLst>
              <a:ext uri="{FF2B5EF4-FFF2-40B4-BE49-F238E27FC236}">
                <a16:creationId xmlns:a16="http://schemas.microsoft.com/office/drawing/2014/main" id="{DD096082-F780-716A-2B66-814861310C33}"/>
              </a:ext>
            </a:extLst>
          </p:cNvPr>
          <p:cNvSpPr>
            <a:spLocks noGrp="1"/>
          </p:cNvSpPr>
          <p:nvPr>
            <p:ph idx="1"/>
          </p:nvPr>
        </p:nvSpPr>
        <p:spPr>
          <a:xfrm>
            <a:off x="573740" y="2247770"/>
            <a:ext cx="3906820" cy="2549266"/>
          </a:xfrm>
        </p:spPr>
        <p:txBody>
          <a:bodyPr>
            <a:noAutofit/>
          </a:bodyPr>
          <a:lstStyle/>
          <a:p>
            <a:r>
              <a:rPr lang="en-US" sz="1100" dirty="0"/>
              <a:t>The analysis highlights strong expansion potential for Zomato in emerging markets like Brazil, Canada, and Australia, supported by favorable customer ratings and low competition.</a:t>
            </a:r>
            <a:br>
              <a:rPr lang="en-US" sz="1100" dirty="0"/>
            </a:br>
            <a:r>
              <a:rPr lang="en-US" sz="1100" dirty="0"/>
              <a:t>Premium opportunities exist in Singapore, where high spending aligns with experiential dining demand.</a:t>
            </a:r>
            <a:br>
              <a:rPr lang="en-US" sz="1100" dirty="0"/>
            </a:br>
            <a:r>
              <a:rPr lang="en-US" sz="1100" dirty="0"/>
              <a:t>Offering online delivery and table booking services will enhance accessibility and customer satisfaction.</a:t>
            </a:r>
            <a:br>
              <a:rPr lang="en-US" sz="1100" dirty="0"/>
            </a:br>
            <a:r>
              <a:rPr lang="en-US" sz="1100" dirty="0"/>
              <a:t>Overall, a data-driven expansion strategy focusing on affordability, quality, and service innovation will ensure sustainable global growth for Zomato.</a:t>
            </a:r>
            <a:endParaRPr lang="en-IN" sz="1100" dirty="0"/>
          </a:p>
        </p:txBody>
      </p:sp>
      <p:pic>
        <p:nvPicPr>
          <p:cNvPr id="8" name="Graphic 7" descr="Business Growth">
            <a:extLst>
              <a:ext uri="{FF2B5EF4-FFF2-40B4-BE49-F238E27FC236}">
                <a16:creationId xmlns:a16="http://schemas.microsoft.com/office/drawing/2014/main" id="{FC0124A7-924A-4E96-0D88-3F4DB54041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80610" y="1071282"/>
            <a:ext cx="4737650" cy="4737650"/>
          </a:xfrm>
          <a:prstGeom prst="rect">
            <a:avLst/>
          </a:prstGeom>
        </p:spPr>
      </p:pic>
      <p:sp>
        <p:nvSpPr>
          <p:cNvPr id="2" name="TextBox 1">
            <a:extLst>
              <a:ext uri="{FF2B5EF4-FFF2-40B4-BE49-F238E27FC236}">
                <a16:creationId xmlns:a16="http://schemas.microsoft.com/office/drawing/2014/main" id="{82179345-4E8F-7E95-F977-A3176C79740D}"/>
              </a:ext>
            </a:extLst>
          </p:cNvPr>
          <p:cNvSpPr txBox="1"/>
          <p:nvPr/>
        </p:nvSpPr>
        <p:spPr>
          <a:xfrm>
            <a:off x="1746352" y="1740385"/>
            <a:ext cx="1700784" cy="400110"/>
          </a:xfrm>
          <a:prstGeom prst="rect">
            <a:avLst/>
          </a:prstGeom>
          <a:noFill/>
        </p:spPr>
        <p:txBody>
          <a:bodyPr wrap="square" rtlCol="0">
            <a:spAutoFit/>
          </a:bodyPr>
          <a:lstStyle/>
          <a:p>
            <a:r>
              <a:rPr lang="en-IN" sz="2000" b="1" dirty="0">
                <a:highlight>
                  <a:srgbClr val="FFFF00"/>
                </a:highlight>
              </a:rPr>
              <a:t>Conclusion</a:t>
            </a:r>
          </a:p>
        </p:txBody>
      </p:sp>
    </p:spTree>
    <p:extLst>
      <p:ext uri="{BB962C8B-B14F-4D97-AF65-F5344CB8AC3E}">
        <p14:creationId xmlns:p14="http://schemas.microsoft.com/office/powerpoint/2010/main" val="1580535426"/>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576</TotalTime>
  <Words>1897</Words>
  <Application>Microsoft Office PowerPoint</Application>
  <PresentationFormat>Widescreen</PresentationFormat>
  <Paragraphs>120</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Amasis MT Pro Medium</vt:lpstr>
      <vt:lpstr>Aptos</vt:lpstr>
      <vt:lpstr>Arial</vt:lpstr>
      <vt:lpstr>Calibri Light</vt:lpstr>
      <vt:lpstr>Rockwell</vt:lpstr>
      <vt:lpstr>Symbol</vt:lpstr>
      <vt:lpstr>Wingdings</vt:lpstr>
      <vt:lpstr>Atlas</vt:lpstr>
      <vt:lpstr>PowerPoint Presentation</vt:lpstr>
      <vt:lpstr>PowerPoint Presentation</vt:lpstr>
      <vt:lpstr>PowerPoint Presentation</vt:lpstr>
      <vt:lpstr>Raw Data – Restaurant-level details (name, location, rating, cost, votes, cuisines). Country Description – Country codes, names, and currency conversion rates. Total Attributes (Columns): 15    Important Variables: Country, City, Cuisines, Average Cost for Two, Price Range, Rating, Votes, Has Table Booking, Has Online Delivery.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Strategy for pricing</vt:lpstr>
      <vt:lpstr>Strategic Recommendations </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Unmesh Sadawarte</dc:creator>
  <cp:lastModifiedBy>Unmesh Sadawarte</cp:lastModifiedBy>
  <cp:revision>8</cp:revision>
  <dcterms:created xsi:type="dcterms:W3CDTF">2025-08-19T10:20:59Z</dcterms:created>
  <dcterms:modified xsi:type="dcterms:W3CDTF">2025-11-05T16:28:01Z</dcterms:modified>
</cp:coreProperties>
</file>